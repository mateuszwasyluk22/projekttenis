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EB Garamond" pitchFamily="18" charset="0"/>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Przedstawiamy projekt analizy meczów tenisa ATP. Zbudowaliśmy pełny proces: od pobrania surowych danych, przez czyszczenie i analizę, po trzy modele uczenia maszynowego i aplikację webową. Wszystkie liczby w prezentacji pochodzą z naszych obliczeń.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Projekt ma trzy pytania badawcze. Nie wybraliśmy ich przypadkowo. Każde prowadzi do innego rodzaju modelu, dzięki czemu pokrywamy wszystkie główne rodziny uczenia maszynowego.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Zbiór obejmuje sześć sezonów. Kluczowa decyzja: zamiast jednego zbioru mamy dwa. Elo potrzebuje tylko informacji, kto kogo pokonał, więc może korzystać z 915 meczów więcej niż analiza serwisu. Warto też wspomnieć, że oryginalne repozytorium przestało odpowiadać w trakcie pracy i musieliśmy znaleźć mirror.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etap jest mniej efektowny niż modele, ale to on decyduje o jakości wszystkiego dalej. Najtrudniejsza część to dopasowanie nazwisk między źródłami. Jeden niedopasowany zawodnik oznacza dwa osobne byty w rankingu Elo i rozmytą historię.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najważniejsza decyzja w całym przygotowaniu danych. Przykład w tabeli pokazuje dwa mecze tego samego zawodnika. Surowo jest to czternaście kontra jedenaście asów, a po przeliczeniu praktycznie ten sam poziom serwisu. Drugi mecz był po prostu krótszy.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Pierwszy wynik potwierdza intuicję kibica, ale teraz mamy go w liczbach. Na trawie pada prawie dwa razy więcej asów niż na mączce. Wolna nawierzchnia daje returnującemu więcej czasu na reakcję.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Macierz korelacji pokazuje jedną wyraźną zależność: ujemny związek między procentem pierwszego serwisu a podwójnymi błędami. Pozostałe wartości są bliskie zeru, co też jest wynikiem. Oznacza to, że statystyki serwisowe są od siebie dość niezależne.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zestawienie uzasadnia decyzję, którą podjęliśmy przy modelu, czyli ranking liczony osobno dla każdej nawierzchni. Czołówki są na tyle różne, że jeden wspólny ranking gubiłby tę informację.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Elo pochodzi z szachów. Kluczowa różnica wobec rankingu ATP polega na tym, że reaguje po każdym meczu i bierze pod uwagę, kogo się pokonało. Prowadzimy dwa rankingi równolegle, ogólny oraz osobny dla każdej nawierzchni.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wykres to najlepsza ilustracja przewagi Elo nad rankingiem ATP. Widać dokładny moment zmiany pokoleniowej. Przy rankingu ATP ta zmiana byłaby widoczna z kilkumiesięcznym opóźnieniem, bo punkty za duże turnieje bronią się przez rok.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Zanim przejdziemy do wyników, jedno zdanie o metodzie. Uczenie maszynowe to poddziedzina sztucznej inteligencji. Nie piszemy żadnych reguł ręcznie, bo model sam znajduje zależności w danych. Podział po czasie to decyzja, o którą prowadzący najpewniej zapyta.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trafia w 65 procent meczów przy punkcie odniesienia 50 procent. To mieści się w zakresie, jaki osiągają sensowne modele tenisowe. Ciekawsze od samej liczby jest porównanie wariantów. Elo nieznacznie bije ranking ATP, a dołożenie wzrostu i nawierzchni nic już nie wnosi.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wykresie widać, że chmura punktów układa się wzdłuż czerwonej linii, ale z dużym rozrzutem. Model łapie ogólny poziom serwisu, lecz pojedynczego meczu nie przewidzi dokładnie, ponieważ serwis ma dużą zmienność z dnia na dzień.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jedyny model, który nie dostaje prawidłowych odpowiedzi. Sam znajduje strukturę. Warto podkreślić, że nazwy grup są naszą interpretacją środków, a nie wynikiem algorytmu. Model wykrywa podobieństwo statystyk, a nie sposób poruszania się po korcie.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odpowiedź na pytanie, które pada przy każdej klasteryzacji, czyli skąd akurat cztery grupy. Skrypt rysuje ten wykres, a decyzję podejmujemy my, patrząc na miejsce zgięcia krzywej.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Aplikacja to warstwa prezentacji, a nie osobny model, ponieważ wczytuje gotowe pliki i pokazuje wyniki. Warto zwrócić uwagę na ostatni punkt. Wartość 1500 jest punktem startowym, a nie wynikiem, więc mylenie tych dwóch rzeczy fałszowałoby obraz.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Kończymy sekcją ograniczeń, bo pokazuje, że rozumiemy granice narzędzia. Najważniejsze zdanie brzmi tak: model wykrywa podobieństwo statystyk, a nie sposób gry. Dziękujemy, jesteśmy gotowi na pytania.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5992"/>
            <a:ext cx="10566400" cy="530860"/>
          </a:xfrm>
          <a:prstGeom prst="rect">
            <a:avLst/>
          </a:prstGeom>
          <a:noFill/>
          <a:ln/>
        </p:spPr>
        <p:txBody>
          <a:bodyPr wrap="square" lIns="0" tIns="0" rIns="0" bIns="0" rtlCol="0" anchor="t"/>
          <a:lstStyle>
            <a:lvl1pPr algn="l" indent="0" marL="0">
              <a:lnSpc>
                <a:spcPct val="115000"/>
              </a:lnSpc>
              <a:buNone/>
              <a:defRPr lang="en-US" sz="3800" dirty="0">
                <a:solidFill>
                  <a:srgbClr val="1C2B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781652"/>
            <a:ext cx="10566400" cy="4263548"/>
          </a:xfrm>
          <a:prstGeom prst="rect">
            <a:avLst/>
          </a:prstGeom>
          <a:noFill/>
          <a:ln/>
        </p:spPr>
        <p:txBody>
          <a:bodyPr wrap="square" lIns="0" tIns="0" rIns="0" bIns="0" rtlCol="0" anchor="t"/>
          <a:lstStyle>
            <a:lvl1pPr algn="l" indent="0" marL="0">
              <a:lnSpc>
                <a:spcPct val="140000"/>
              </a:lnSpc>
              <a:buNone/>
              <a:defRPr lang="en-US" sz="1600" dirty="0">
                <a:solidFill>
                  <a:srgbClr val="1C2B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5992"/>
            <a:ext cx="10566400" cy="530860"/>
          </a:xfrm>
          <a:prstGeom prst="rect">
            <a:avLst/>
          </a:prstGeom>
          <a:noFill/>
          <a:ln/>
        </p:spPr>
        <p:txBody>
          <a:bodyPr wrap="square" lIns="0" tIns="0" rIns="0" bIns="0" rtlCol="0" anchor="t"/>
          <a:lstStyle>
            <a:lvl1pPr algn="l" indent="0" marL="0">
              <a:lnSpc>
                <a:spcPct val="115000"/>
              </a:lnSpc>
              <a:buNone/>
              <a:defRPr lang="en-US" sz="3800" dirty="0">
                <a:solidFill>
                  <a:srgbClr val="1C2B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781652"/>
            <a:ext cx="10566400" cy="4263548"/>
          </a:xfrm>
          <a:prstGeom prst="rect">
            <a:avLst/>
          </a:prstGeom>
          <a:noFill/>
          <a:ln/>
        </p:spPr>
        <p:txBody>
          <a:bodyPr wrap="square" lIns="0" tIns="0" rIns="0" bIns="0" rtlCol="0" anchor="t"/>
          <a:lstStyle>
            <a:lvl1pPr algn="l" indent="0" marL="0">
              <a:lnSpc>
                <a:spcPct val="140000"/>
              </a:lnSpc>
              <a:buNone/>
              <a:defRPr lang="en-US" sz="1600" dirty="0">
                <a:solidFill>
                  <a:srgbClr val="1C2B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C98A64"/>
                </a:solidFill>
                <a:latin typeface="Arial" pitchFamily="34" charset="0"/>
                <a:ea typeface="Arial" pitchFamily="34" charset="-122"/>
                <a:cs typeface="Arial" pitchFamily="34" charset="-120"/>
              </a:rPr>
              <a:t>SYSTEMY SZTUCZNEJ INTELIGENCJI · PROJEKT ZALICZENIOWY</a:t>
            </a:r>
            <a:endParaRPr lang="en-US" sz="1300" dirty="0"/>
          </a:p>
        </p:txBody>
      </p:sp>
      <p:sp>
        <p:nvSpPr>
          <p:cNvPr id="3" name="Text 1"/>
          <p:cNvSpPr/>
          <p:nvPr>
            <p:ph type="title"/>
          </p:nvPr>
        </p:nvSpPr>
        <p:spPr>
          <a:xfrm>
            <a:off x="812800" y="1885950"/>
            <a:ext cx="10883392" cy="1785620"/>
          </a:xfrm>
          <a:prstGeom prst="rect">
            <a:avLst/>
          </a:prstGeom>
          <a:noFill/>
          <a:ln/>
        </p:spPr>
        <p:txBody>
          <a:bodyPr wrap="square" lIns="0" tIns="0" rIns="0" bIns="0" rtlCol="0" anchor="t">
            <a:normAutofit/>
          </a:bodyPr>
          <a:lstStyle/>
          <a:p>
            <a:pPr algn="l" indent="0" marL="0">
              <a:lnSpc>
                <a:spcPts val="6930"/>
              </a:lnSpc>
              <a:buNone/>
            </a:pPr>
            <a:r>
              <a:rPr lang="en-US" sz="6600" b="0" i="0" dirty="0">
                <a:solidFill>
                  <a:srgbClr val="FAF9F5"/>
                </a:solidFill>
                <a:latin typeface="EB Garamond" pitchFamily="18" charset="0"/>
                <a:ea typeface="EB Garamond" pitchFamily="18" charset="-122"/>
                <a:cs typeface="EB Garamond" pitchFamily="18" charset="-120"/>
              </a:rPr>
              <a:t>Analiza i prognoza</a:t>
            </a:r>
            <a:endParaRPr lang="en-US" sz="6600" dirty="0"/>
          </a:p>
          <a:p>
            <a:pPr algn="l" indent="0" marL="0">
              <a:lnSpc>
                <a:spcPts val="6930"/>
              </a:lnSpc>
              <a:buNone/>
            </a:pPr>
            <a:r>
              <a:rPr lang="en-US" sz="6600" b="0" i="0" dirty="0">
                <a:solidFill>
                  <a:srgbClr val="FAF9F5"/>
                </a:solidFill>
                <a:latin typeface="EB Garamond" pitchFamily="18" charset="0"/>
                <a:ea typeface="EB Garamond" pitchFamily="18" charset="-122"/>
                <a:cs typeface="EB Garamond" pitchFamily="18" charset="-120"/>
              </a:rPr>
              <a:t>meczów tenisa ATP</a:t>
            </a:r>
            <a:endParaRPr lang="en-US" sz="6600" dirty="0"/>
          </a:p>
        </p:txBody>
      </p:sp>
      <p:sp>
        <p:nvSpPr>
          <p:cNvPr id="4" name="Text 2"/>
          <p:cNvSpPr/>
          <p:nvPr/>
        </p:nvSpPr>
        <p:spPr>
          <a:xfrm>
            <a:off x="812800" y="5311140"/>
            <a:ext cx="494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AAB"/>
                </a:solidFill>
                <a:latin typeface="Arial" pitchFamily="34" charset="0"/>
                <a:ea typeface="Arial" pitchFamily="34" charset="-122"/>
                <a:cs typeface="Arial" pitchFamily="34" charset="-120"/>
              </a:rPr>
              <a:t>Autorzy</a:t>
            </a:r>
            <a:endParaRPr lang="en-US" sz="1200" dirty="0"/>
          </a:p>
        </p:txBody>
      </p:sp>
      <p:sp>
        <p:nvSpPr>
          <p:cNvPr id="5" name="Text 3"/>
          <p:cNvSpPr/>
          <p:nvPr/>
        </p:nvSpPr>
        <p:spPr>
          <a:xfrm>
            <a:off x="812800" y="5575300"/>
            <a:ext cx="53074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AF9F5"/>
                </a:solidFill>
                <a:latin typeface="Arial" pitchFamily="34" charset="0"/>
                <a:ea typeface="Arial" pitchFamily="34" charset="-122"/>
                <a:cs typeface="Arial" pitchFamily="34" charset="-120"/>
              </a:rPr>
              <a:t>Mateusz Wasyluk · Kacper Dobrowolski · Mikołaj Zdunek</a:t>
            </a:r>
            <a:endParaRPr lang="en-US" sz="1500" dirty="0"/>
          </a:p>
        </p:txBody>
      </p:sp>
      <p:sp>
        <p:nvSpPr>
          <p:cNvPr id="6" name="Text 4"/>
          <p:cNvSpPr/>
          <p:nvPr/>
        </p:nvSpPr>
        <p:spPr>
          <a:xfrm>
            <a:off x="6120209" y="5311140"/>
            <a:ext cx="12908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AAB"/>
                </a:solidFill>
                <a:latin typeface="Arial" pitchFamily="34" charset="0"/>
                <a:ea typeface="Arial" pitchFamily="34" charset="-122"/>
                <a:cs typeface="Arial" pitchFamily="34" charset="-120"/>
              </a:rPr>
              <a:t>Rok akademicki</a:t>
            </a:r>
            <a:endParaRPr lang="en-US" sz="1200" dirty="0"/>
          </a:p>
        </p:txBody>
      </p:sp>
      <p:sp>
        <p:nvSpPr>
          <p:cNvPr id="7" name="Text 5"/>
          <p:cNvSpPr/>
          <p:nvPr/>
        </p:nvSpPr>
        <p:spPr>
          <a:xfrm>
            <a:off x="6120209" y="5575300"/>
            <a:ext cx="11264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AF9F5"/>
                </a:solidFill>
                <a:latin typeface="Arial" pitchFamily="34" charset="0"/>
                <a:ea typeface="Arial" pitchFamily="34" charset="-122"/>
                <a:cs typeface="Arial" pitchFamily="34" charset="-120"/>
              </a:rPr>
              <a:t>2026/2027</a:t>
            </a:r>
            <a:endParaRPr lang="en-US" sz="1500" dirty="0"/>
          </a:p>
        </p:txBody>
      </p:sp>
      <p:sp>
        <p:nvSpPr>
          <p:cNvPr id="8" name="Text 6"/>
          <p:cNvSpPr/>
          <p:nvPr/>
        </p:nvSpPr>
        <p:spPr>
          <a:xfrm>
            <a:off x="812800" y="4130278"/>
            <a:ext cx="8502650" cy="65151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B6C2CF"/>
                </a:solidFill>
                <a:latin typeface="Arial" pitchFamily="34" charset="0"/>
                <a:ea typeface="Arial" pitchFamily="34" charset="-122"/>
                <a:cs typeface="Arial" pitchFamily="34" charset="-120"/>
              </a:rPr>
              <a:t>Czyszczenie danych, analiza eksploracyjna, ranking Elo oraz trzy modele uczenia maszynowego na zbiorze 16 105 meczów z lat 2021–2026</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Cel projektu i pytania badawcze</a:t>
            </a:r>
            <a:endParaRPr lang="en-US" sz="3800" dirty="0"/>
          </a:p>
        </p:txBody>
      </p:sp>
      <p:sp>
        <p:nvSpPr>
          <p:cNvPr id="3" name="Shape 1"/>
          <p:cNvSpPr/>
          <p:nvPr/>
        </p:nvSpPr>
        <p:spPr>
          <a:xfrm>
            <a:off x="815975" y="1702435"/>
            <a:ext cx="3346450" cy="2355850"/>
          </a:xfrm>
          <a:prstGeom prst="roundRect">
            <a:avLst>
              <a:gd name="adj" fmla="val 4178"/>
            </a:avLst>
          </a:prstGeom>
          <a:solidFill>
            <a:srgbClr val="FFFFFF"/>
          </a:solidFill>
          <a:ln w="6350">
            <a:solidFill>
              <a:srgbClr val="DDD8CE"/>
            </a:solidFill>
            <a:prstDash val="solid"/>
          </a:ln>
        </p:spPr>
      </p:sp>
      <p:sp>
        <p:nvSpPr>
          <p:cNvPr id="4" name="Text 2"/>
          <p:cNvSpPr/>
          <p:nvPr/>
        </p:nvSpPr>
        <p:spPr>
          <a:xfrm>
            <a:off x="1097280" y="1983740"/>
            <a:ext cx="28673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PYTANIE 1</a:t>
            </a:r>
            <a:endParaRPr lang="en-US" sz="1200" dirty="0"/>
          </a:p>
        </p:txBody>
      </p:sp>
      <p:sp>
        <p:nvSpPr>
          <p:cNvPr id="5" name="Text 3"/>
          <p:cNvSpPr/>
          <p:nvPr/>
        </p:nvSpPr>
        <p:spPr>
          <a:xfrm>
            <a:off x="1097280" y="2298700"/>
            <a:ext cx="2867355" cy="628650"/>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1C2B3A"/>
                </a:solidFill>
                <a:latin typeface="Arial" pitchFamily="34" charset="0"/>
                <a:ea typeface="Arial" pitchFamily="34" charset="-122"/>
                <a:cs typeface="Arial" pitchFamily="34" charset="-120"/>
              </a:rPr>
              <a:t>Co decyduje o wyniku meczu?</a:t>
            </a:r>
            <a:endParaRPr lang="en-US" sz="1900" dirty="0"/>
          </a:p>
        </p:txBody>
      </p:sp>
      <p:sp>
        <p:nvSpPr>
          <p:cNvPr id="6" name="Text 4"/>
          <p:cNvSpPr/>
          <p:nvPr/>
        </p:nvSpPr>
        <p:spPr>
          <a:xfrm>
            <a:off x="1097280" y="3003550"/>
            <a:ext cx="2867355"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Czy własny ranking formy przewiduje zwycięzcę lepiej niż oficjalny ranking ATP?</a:t>
            </a:r>
            <a:endParaRPr lang="en-US" sz="1400" dirty="0"/>
          </a:p>
        </p:txBody>
      </p:sp>
      <p:sp>
        <p:nvSpPr>
          <p:cNvPr id="7" name="Shape 5"/>
          <p:cNvSpPr/>
          <p:nvPr/>
        </p:nvSpPr>
        <p:spPr>
          <a:xfrm>
            <a:off x="4422775" y="1702435"/>
            <a:ext cx="3346450" cy="2355850"/>
          </a:xfrm>
          <a:prstGeom prst="roundRect">
            <a:avLst>
              <a:gd name="adj" fmla="val 4178"/>
            </a:avLst>
          </a:prstGeom>
          <a:solidFill>
            <a:srgbClr val="FFFFFF"/>
          </a:solidFill>
          <a:ln w="6350">
            <a:solidFill>
              <a:srgbClr val="DDD8CE"/>
            </a:solidFill>
            <a:prstDash val="solid"/>
          </a:ln>
        </p:spPr>
      </p:sp>
      <p:sp>
        <p:nvSpPr>
          <p:cNvPr id="8" name="Text 6"/>
          <p:cNvSpPr/>
          <p:nvPr/>
        </p:nvSpPr>
        <p:spPr>
          <a:xfrm>
            <a:off x="4704080" y="1983740"/>
            <a:ext cx="28673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PYTANIE 2</a:t>
            </a:r>
            <a:endParaRPr lang="en-US" sz="1200" dirty="0"/>
          </a:p>
        </p:txBody>
      </p:sp>
      <p:sp>
        <p:nvSpPr>
          <p:cNvPr id="9" name="Text 7"/>
          <p:cNvSpPr/>
          <p:nvPr/>
        </p:nvSpPr>
        <p:spPr>
          <a:xfrm>
            <a:off x="4704080" y="2298700"/>
            <a:ext cx="2867355" cy="628650"/>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1C2B3A"/>
                </a:solidFill>
                <a:latin typeface="Arial" pitchFamily="34" charset="0"/>
                <a:ea typeface="Arial" pitchFamily="34" charset="-122"/>
                <a:cs typeface="Arial" pitchFamily="34" charset="-120"/>
              </a:rPr>
              <a:t>Od czego zależy liczba asów?</a:t>
            </a:r>
            <a:endParaRPr lang="en-US" sz="1900" dirty="0"/>
          </a:p>
        </p:txBody>
      </p:sp>
      <p:sp>
        <p:nvSpPr>
          <p:cNvPr id="10" name="Text 8"/>
          <p:cNvSpPr/>
          <p:nvPr/>
        </p:nvSpPr>
        <p:spPr>
          <a:xfrm>
            <a:off x="4704080" y="3003550"/>
            <a:ext cx="2867355"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Jaki udział mają nawierzchnia, wzrost serwującego i cechy przeciwnika?</a:t>
            </a:r>
            <a:endParaRPr lang="en-US" sz="1400" dirty="0"/>
          </a:p>
        </p:txBody>
      </p:sp>
      <p:sp>
        <p:nvSpPr>
          <p:cNvPr id="11" name="Shape 9"/>
          <p:cNvSpPr/>
          <p:nvPr/>
        </p:nvSpPr>
        <p:spPr>
          <a:xfrm>
            <a:off x="8029575" y="1702435"/>
            <a:ext cx="3346450" cy="2355850"/>
          </a:xfrm>
          <a:prstGeom prst="roundRect">
            <a:avLst>
              <a:gd name="adj" fmla="val 4178"/>
            </a:avLst>
          </a:prstGeom>
          <a:solidFill>
            <a:srgbClr val="FFFFFF"/>
          </a:solidFill>
          <a:ln w="6350">
            <a:solidFill>
              <a:srgbClr val="DDD8CE"/>
            </a:solidFill>
            <a:prstDash val="solid"/>
          </a:ln>
        </p:spPr>
      </p:sp>
      <p:sp>
        <p:nvSpPr>
          <p:cNvPr id="12" name="Text 10"/>
          <p:cNvSpPr/>
          <p:nvPr/>
        </p:nvSpPr>
        <p:spPr>
          <a:xfrm>
            <a:off x="8310880" y="1983740"/>
            <a:ext cx="28673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PYTANIE 3</a:t>
            </a:r>
            <a:endParaRPr lang="en-US" sz="1200" dirty="0"/>
          </a:p>
        </p:txBody>
      </p:sp>
      <p:sp>
        <p:nvSpPr>
          <p:cNvPr id="13" name="Text 11"/>
          <p:cNvSpPr/>
          <p:nvPr/>
        </p:nvSpPr>
        <p:spPr>
          <a:xfrm>
            <a:off x="8310880" y="2298700"/>
            <a:ext cx="3061970" cy="327025"/>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1C2B3A"/>
                </a:solidFill>
                <a:latin typeface="Arial" pitchFamily="34" charset="0"/>
                <a:ea typeface="Arial" pitchFamily="34" charset="-122"/>
                <a:cs typeface="Arial" pitchFamily="34" charset="-120"/>
              </a:rPr>
              <a:t>Jakie style gry istnieją?</a:t>
            </a:r>
            <a:endParaRPr lang="en-US" sz="1900" dirty="0"/>
          </a:p>
        </p:txBody>
      </p:sp>
      <p:sp>
        <p:nvSpPr>
          <p:cNvPr id="14" name="Text 12"/>
          <p:cNvSpPr/>
          <p:nvPr/>
        </p:nvSpPr>
        <p:spPr>
          <a:xfrm>
            <a:off x="8310880" y="2701925"/>
            <a:ext cx="2867355"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Czy algorytm sam wyodrębni grupy zawodników, bez podawania mu definicji?</a:t>
            </a:r>
            <a:endParaRPr lang="en-US" sz="1400" dirty="0"/>
          </a:p>
        </p:txBody>
      </p:sp>
      <p:sp>
        <p:nvSpPr>
          <p:cNvPr id="15" name="Text 13"/>
          <p:cNvSpPr/>
          <p:nvPr/>
        </p:nvSpPr>
        <p:spPr>
          <a:xfrm>
            <a:off x="812800" y="4417060"/>
            <a:ext cx="981075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Arial" pitchFamily="34" charset="0"/>
                <a:ea typeface="Arial" pitchFamily="34" charset="-122"/>
                <a:cs typeface="Arial" pitchFamily="34" charset="-120"/>
              </a:rPr>
              <a:t>Każde pytanie prowadzi do innego typu modelu uczenia maszynowego: klasyfikacji, regresji i klasteryzacji.</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Dane źródłowe</a:t>
            </a:r>
            <a:endParaRPr lang="en-US" sz="3800" dirty="0"/>
          </a:p>
        </p:txBody>
      </p:sp>
      <p:sp>
        <p:nvSpPr>
          <p:cNvPr id="3" name="Shape 1"/>
          <p:cNvSpPr/>
          <p:nvPr/>
        </p:nvSpPr>
        <p:spPr>
          <a:xfrm>
            <a:off x="812800" y="1648461"/>
            <a:ext cx="2481580" cy="1275398"/>
          </a:xfrm>
          <a:prstGeom prst="roundRect">
            <a:avLst>
              <a:gd name="adj" fmla="val 7966"/>
            </a:avLst>
          </a:prstGeom>
          <a:solidFill>
            <a:srgbClr val="1C2B3A"/>
          </a:solidFill>
          <a:ln/>
        </p:spPr>
      </p:sp>
      <p:sp>
        <p:nvSpPr>
          <p:cNvPr id="4" name="Text 2"/>
          <p:cNvSpPr/>
          <p:nvPr/>
        </p:nvSpPr>
        <p:spPr>
          <a:xfrm>
            <a:off x="1066800" y="1902461"/>
            <a:ext cx="2032788" cy="50038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FAF9F5"/>
                </a:solidFill>
                <a:latin typeface="Arial" pitchFamily="34" charset="0"/>
                <a:ea typeface="Arial" pitchFamily="34" charset="-122"/>
                <a:cs typeface="Arial" pitchFamily="34" charset="-120"/>
              </a:rPr>
              <a:t>16 105</a:t>
            </a:r>
            <a:endParaRPr lang="en-US" sz="3400" dirty="0"/>
          </a:p>
        </p:txBody>
      </p:sp>
      <p:sp>
        <p:nvSpPr>
          <p:cNvPr id="5" name="Text 3"/>
          <p:cNvSpPr/>
          <p:nvPr/>
        </p:nvSpPr>
        <p:spPr>
          <a:xfrm>
            <a:off x="1066800" y="2428241"/>
            <a:ext cx="2032788" cy="25685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B6C2CF"/>
                </a:solidFill>
                <a:latin typeface="Arial" pitchFamily="34" charset="0"/>
                <a:ea typeface="Arial" pitchFamily="34" charset="-122"/>
                <a:cs typeface="Arial" pitchFamily="34" charset="-120"/>
              </a:rPr>
              <a:t>surowych meczów</a:t>
            </a:r>
            <a:endParaRPr lang="en-US" sz="1350" dirty="0"/>
          </a:p>
        </p:txBody>
      </p:sp>
      <p:sp>
        <p:nvSpPr>
          <p:cNvPr id="6" name="Shape 4"/>
          <p:cNvSpPr/>
          <p:nvPr/>
        </p:nvSpPr>
        <p:spPr>
          <a:xfrm>
            <a:off x="3500755" y="1651636"/>
            <a:ext cx="2485390" cy="1269048"/>
          </a:xfrm>
          <a:prstGeom prst="roundRect">
            <a:avLst>
              <a:gd name="adj" fmla="val 7756"/>
            </a:avLst>
          </a:prstGeom>
          <a:solidFill>
            <a:srgbClr val="FFFFFF"/>
          </a:solidFill>
          <a:ln w="6350">
            <a:solidFill>
              <a:srgbClr val="DDD8CE"/>
            </a:solidFill>
            <a:prstDash val="solid"/>
          </a:ln>
        </p:spPr>
      </p:sp>
      <p:sp>
        <p:nvSpPr>
          <p:cNvPr id="7" name="Text 5"/>
          <p:cNvSpPr/>
          <p:nvPr/>
        </p:nvSpPr>
        <p:spPr>
          <a:xfrm>
            <a:off x="3756660" y="1907541"/>
            <a:ext cx="2032788" cy="50038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9C4221"/>
                </a:solidFill>
                <a:latin typeface="Arial" pitchFamily="34" charset="0"/>
                <a:ea typeface="Arial" pitchFamily="34" charset="-122"/>
                <a:cs typeface="Arial" pitchFamily="34" charset="-120"/>
              </a:rPr>
              <a:t>6</a:t>
            </a:r>
            <a:endParaRPr lang="en-US" sz="3400" dirty="0"/>
          </a:p>
        </p:txBody>
      </p:sp>
      <p:sp>
        <p:nvSpPr>
          <p:cNvPr id="8" name="Text 6"/>
          <p:cNvSpPr/>
          <p:nvPr/>
        </p:nvSpPr>
        <p:spPr>
          <a:xfrm>
            <a:off x="3756660" y="2433320"/>
            <a:ext cx="2032788" cy="25685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4A5568"/>
                </a:solidFill>
                <a:latin typeface="Arial" pitchFamily="34" charset="0"/>
                <a:ea typeface="Arial" pitchFamily="34" charset="-122"/>
                <a:cs typeface="Arial" pitchFamily="34" charset="-120"/>
              </a:rPr>
              <a:t>sezonów: 2021–2026</a:t>
            </a:r>
            <a:endParaRPr lang="en-US" sz="1350" dirty="0"/>
          </a:p>
        </p:txBody>
      </p:sp>
      <p:sp>
        <p:nvSpPr>
          <p:cNvPr id="9" name="Shape 7"/>
          <p:cNvSpPr/>
          <p:nvPr/>
        </p:nvSpPr>
        <p:spPr>
          <a:xfrm>
            <a:off x="6195695" y="1651636"/>
            <a:ext cx="2485390" cy="1269048"/>
          </a:xfrm>
          <a:prstGeom prst="roundRect">
            <a:avLst>
              <a:gd name="adj" fmla="val 7756"/>
            </a:avLst>
          </a:prstGeom>
          <a:solidFill>
            <a:srgbClr val="FFFFFF"/>
          </a:solidFill>
          <a:ln w="6350">
            <a:solidFill>
              <a:srgbClr val="DDD8CE"/>
            </a:solidFill>
            <a:prstDash val="solid"/>
          </a:ln>
        </p:spPr>
      </p:sp>
      <p:sp>
        <p:nvSpPr>
          <p:cNvPr id="10" name="Text 8"/>
          <p:cNvSpPr/>
          <p:nvPr/>
        </p:nvSpPr>
        <p:spPr>
          <a:xfrm>
            <a:off x="6451600" y="1907541"/>
            <a:ext cx="2032788" cy="50038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9C4221"/>
                </a:solidFill>
                <a:latin typeface="Arial" pitchFamily="34" charset="0"/>
                <a:ea typeface="Arial" pitchFamily="34" charset="-122"/>
                <a:cs typeface="Arial" pitchFamily="34" charset="-120"/>
              </a:rPr>
              <a:t>724</a:t>
            </a:r>
            <a:endParaRPr lang="en-US" sz="3400" dirty="0"/>
          </a:p>
        </p:txBody>
      </p:sp>
      <p:sp>
        <p:nvSpPr>
          <p:cNvPr id="11" name="Text 9"/>
          <p:cNvSpPr/>
          <p:nvPr/>
        </p:nvSpPr>
        <p:spPr>
          <a:xfrm>
            <a:off x="6451600" y="2433320"/>
            <a:ext cx="2032788" cy="25685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4A5568"/>
                </a:solidFill>
                <a:latin typeface="Arial" pitchFamily="34" charset="0"/>
                <a:ea typeface="Arial" pitchFamily="34" charset="-122"/>
                <a:cs typeface="Arial" pitchFamily="34" charset="-120"/>
              </a:rPr>
              <a:t>zawodników w rankingu</a:t>
            </a:r>
            <a:endParaRPr lang="en-US" sz="1350" dirty="0"/>
          </a:p>
        </p:txBody>
      </p:sp>
      <p:sp>
        <p:nvSpPr>
          <p:cNvPr id="12" name="Shape 10"/>
          <p:cNvSpPr/>
          <p:nvPr/>
        </p:nvSpPr>
        <p:spPr>
          <a:xfrm>
            <a:off x="8890635" y="1651636"/>
            <a:ext cx="2485390" cy="1269048"/>
          </a:xfrm>
          <a:prstGeom prst="roundRect">
            <a:avLst>
              <a:gd name="adj" fmla="val 7756"/>
            </a:avLst>
          </a:prstGeom>
          <a:solidFill>
            <a:srgbClr val="FFFFFF"/>
          </a:solidFill>
          <a:ln w="6350">
            <a:solidFill>
              <a:srgbClr val="DDD8CE"/>
            </a:solidFill>
            <a:prstDash val="solid"/>
          </a:ln>
        </p:spPr>
      </p:sp>
      <p:sp>
        <p:nvSpPr>
          <p:cNvPr id="13" name="Text 11"/>
          <p:cNvSpPr/>
          <p:nvPr/>
        </p:nvSpPr>
        <p:spPr>
          <a:xfrm>
            <a:off x="9146540" y="1907541"/>
            <a:ext cx="2032788" cy="50038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9C4221"/>
                </a:solidFill>
                <a:latin typeface="Arial" pitchFamily="34" charset="0"/>
                <a:ea typeface="Arial" pitchFamily="34" charset="-122"/>
                <a:cs typeface="Arial" pitchFamily="34" charset="-120"/>
              </a:rPr>
              <a:t>49</a:t>
            </a:r>
            <a:endParaRPr lang="en-US" sz="3400" dirty="0"/>
          </a:p>
        </p:txBody>
      </p:sp>
      <p:sp>
        <p:nvSpPr>
          <p:cNvPr id="14" name="Text 12"/>
          <p:cNvSpPr/>
          <p:nvPr/>
        </p:nvSpPr>
        <p:spPr>
          <a:xfrm>
            <a:off x="9146540" y="2433320"/>
            <a:ext cx="2032788" cy="25685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4A5568"/>
                </a:solidFill>
                <a:latin typeface="Arial" pitchFamily="34" charset="0"/>
                <a:ea typeface="Arial" pitchFamily="34" charset="-122"/>
                <a:cs typeface="Arial" pitchFamily="34" charset="-120"/>
              </a:rPr>
              <a:t>kolumn w surowym pliku</a:t>
            </a:r>
            <a:endParaRPr lang="en-US" sz="1350" dirty="0"/>
          </a:p>
        </p:txBody>
      </p:sp>
      <p:sp>
        <p:nvSpPr>
          <p:cNvPr id="15" name="Text 13"/>
          <p:cNvSpPr/>
          <p:nvPr/>
        </p:nvSpPr>
        <p:spPr>
          <a:xfrm>
            <a:off x="812800" y="3228657"/>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Co zawiera jeden rekord</a:t>
            </a:r>
            <a:endParaRPr lang="en-US" sz="1800" dirty="0"/>
          </a:p>
        </p:txBody>
      </p:sp>
      <p:sp>
        <p:nvSpPr>
          <p:cNvPr id="16" name="Text 14"/>
          <p:cNvSpPr/>
          <p:nvPr/>
        </p:nvSpPr>
        <p:spPr>
          <a:xfrm>
            <a:off x="910082" y="3617278"/>
            <a:ext cx="5179822" cy="1234440"/>
          </a:xfrm>
          <a:prstGeom prst="rect">
            <a:avLst/>
          </a:prstGeom>
          <a:noFill/>
          <a:ln/>
        </p:spPr>
        <p:txBody>
          <a:bodyPr wrap="square" lIns="0" tIns="0" rIns="0" bIns="0" rtlCol="0" anchor="t">
            <a:normAutofit/>
          </a:bodyPr>
          <a:lstStyle/>
          <a:p>
            <a:pPr algn="l" marL="156718" indent="-156718">
              <a:lnSpc>
                <a:spcPts val="2380"/>
              </a:lnSpc>
              <a:buSzPct val="100000"/>
              <a:buChar char="•"/>
            </a:pPr>
            <a:r>
              <a:rPr lang="en-US" sz="1400" dirty="0">
                <a:solidFill>
                  <a:srgbClr val="4A5568"/>
                </a:solidFill>
                <a:latin typeface="Arial" pitchFamily="34" charset="0"/>
                <a:ea typeface="Arial" pitchFamily="34" charset="-122"/>
                <a:cs typeface="Arial" pitchFamily="34" charset="-120"/>
              </a:rPr>
              <a:t>nazwiska, rankingi ATP, wzrost, ręka zawodników</a:t>
            </a:r>
            <a:endParaRPr lang="en-US" sz="1400" dirty="0"/>
          </a:p>
          <a:p>
            <a:pPr algn="l" marL="156718" indent="-156718">
              <a:lnSpc>
                <a:spcPts val="2380"/>
              </a:lnSpc>
              <a:buSzPct val="100000"/>
              <a:buChar char="•"/>
            </a:pPr>
            <a:r>
              <a:rPr lang="en-US" sz="1400" dirty="0">
                <a:solidFill>
                  <a:srgbClr val="4A5568"/>
                </a:solidFill>
                <a:latin typeface="Arial" pitchFamily="34" charset="0"/>
                <a:ea typeface="Arial" pitchFamily="34" charset="-122"/>
                <a:cs typeface="Arial" pitchFamily="34" charset="-120"/>
              </a:rPr>
              <a:t>nawierzchnia, turniej, data, wynik setowy</a:t>
            </a:r>
            <a:endParaRPr lang="en-US" sz="1400" dirty="0"/>
          </a:p>
          <a:p>
            <a:pPr algn="l" marL="156718" indent="-156718">
              <a:lnSpc>
                <a:spcPts val="2380"/>
              </a:lnSpc>
              <a:buSzPct val="100000"/>
              <a:buChar char="•"/>
            </a:pPr>
            <a:r>
              <a:rPr lang="en-US" sz="1400" dirty="0">
                <a:solidFill>
                  <a:srgbClr val="4A5568"/>
                </a:solidFill>
                <a:latin typeface="Arial" pitchFamily="34" charset="0"/>
                <a:ea typeface="Arial" pitchFamily="34" charset="-122"/>
                <a:cs typeface="Arial" pitchFamily="34" charset="-120"/>
              </a:rPr>
              <a:t>asy, podwójne błędy, punkty serwisowe</a:t>
            </a:r>
            <a:endParaRPr lang="en-US" sz="1400" dirty="0"/>
          </a:p>
          <a:p>
            <a:pPr algn="l" marL="156718" indent="-156718">
              <a:lnSpc>
                <a:spcPts val="2380"/>
              </a:lnSpc>
              <a:buSzPct val="100000"/>
              <a:buChar char="•"/>
            </a:pPr>
            <a:r>
              <a:rPr lang="en-US" sz="1400" dirty="0">
                <a:solidFill>
                  <a:srgbClr val="4A5568"/>
                </a:solidFill>
                <a:latin typeface="Arial" pitchFamily="34" charset="0"/>
                <a:ea typeface="Arial" pitchFamily="34" charset="-122"/>
                <a:cs typeface="Arial" pitchFamily="34" charset="-120"/>
              </a:rPr>
              <a:t>trafione pierwsze serwisy, break pointy</a:t>
            </a:r>
            <a:endParaRPr lang="en-US" sz="1400" dirty="0"/>
          </a:p>
        </p:txBody>
      </p:sp>
      <p:sp>
        <p:nvSpPr>
          <p:cNvPr id="17" name="Text 15"/>
          <p:cNvSpPr/>
          <p:nvPr/>
        </p:nvSpPr>
        <p:spPr>
          <a:xfrm>
            <a:off x="6248400" y="3228657"/>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Dwa zbiory wynikowe</a:t>
            </a:r>
            <a:endParaRPr lang="en-US" sz="1800" dirty="0"/>
          </a:p>
        </p:txBody>
      </p:sp>
      <p:sp>
        <p:nvSpPr>
          <p:cNvPr id="18" name="Shape 16"/>
          <p:cNvSpPr/>
          <p:nvPr/>
        </p:nvSpPr>
        <p:spPr>
          <a:xfrm>
            <a:off x="6248400" y="3617278"/>
            <a:ext cx="5130800" cy="1548130"/>
          </a:xfrm>
          <a:custGeom>
            <a:avLst/>
            <a:gdLst/>
            <a:ahLst/>
            <a:cxnLst/>
            <a:rect l="l" t="t" r="r" b="b"/>
            <a:pathLst>
              <a:path w="5130800" h="1548130">
                <a:moveTo>
                  <a:pt x="5054600" y="0"/>
                </a:moveTo>
                <a:lnTo>
                  <a:pt x="5054600" y="0"/>
                </a:lnTo>
                <a:arcTo hR="76200" wR="76200" stAng="16200000" swAng="5400000"/>
                <a:lnTo>
                  <a:pt x="5130800" y="1471930"/>
                </a:lnTo>
                <a:arcTo hR="76200" wR="76200" stAng="0" swAng="5400000"/>
                <a:lnTo>
                  <a:pt x="76200" y="1548130"/>
                </a:lnTo>
                <a:arcTo hR="76200" wR="76200" stAng="5400000" swAng="5400000"/>
                <a:lnTo>
                  <a:pt x="0" y="1471930"/>
                </a:lnTo>
                <a:arcTo hR="69850" wR="76200" stAng="10800000" swAng="-5400000"/>
                <a:lnTo>
                  <a:pt x="5054600" y="1541780"/>
                </a:lnTo>
                <a:arcTo hR="69850" wR="69850" stAng="5400000" swAng="-5400000"/>
                <a:lnTo>
                  <a:pt x="5124450" y="76200"/>
                </a:lnTo>
                <a:arcTo hR="76200" wR="69850" stAng="0" swAng="-5400000"/>
                <a:close/>
              </a:path>
            </a:pathLst>
          </a:custGeom>
          <a:solidFill>
            <a:srgbClr val="DDD8CE"/>
          </a:solidFill>
          <a:ln/>
        </p:spPr>
      </p:sp>
      <p:sp>
        <p:nvSpPr>
          <p:cNvPr id="19" name="Shape 17"/>
          <p:cNvSpPr/>
          <p:nvPr/>
        </p:nvSpPr>
        <p:spPr>
          <a:xfrm>
            <a:off x="6248400" y="3617278"/>
            <a:ext cx="5130800" cy="1548130"/>
          </a:xfrm>
          <a:custGeom>
            <a:avLst/>
            <a:gdLst/>
            <a:ahLst/>
            <a:cxnLst/>
            <a:rect l="l" t="t" r="r" b="b"/>
            <a:pathLst>
              <a:path w="5130800" h="1548130">
                <a:moveTo>
                  <a:pt x="76200" y="1548130"/>
                </a:moveTo>
                <a:lnTo>
                  <a:pt x="76200" y="1548130"/>
                </a:lnTo>
                <a:arcTo hR="76200" wR="76200" stAng="5400000" swAng="5400000"/>
                <a:lnTo>
                  <a:pt x="0" y="76200"/>
                </a:lnTo>
                <a:arcTo hR="76200" wR="76200" stAng="10800000" swAng="5400000"/>
                <a:lnTo>
                  <a:pt x="5054600" y="0"/>
                </a:lnTo>
                <a:arcTo hR="76200" wR="76200" stAng="16200000" swAng="5400000"/>
                <a:lnTo>
                  <a:pt x="5130800" y="76200"/>
                </a:lnTo>
                <a:arcTo hR="66040" wR="76200" stAng="0" swAng="-5400000"/>
                <a:lnTo>
                  <a:pt x="76200" y="10160"/>
                </a:lnTo>
                <a:arcTo hR="66040" wR="66040" stAng="16200000" swAng="-5400000"/>
                <a:lnTo>
                  <a:pt x="10160" y="1471930"/>
                </a:lnTo>
                <a:arcTo hR="76200" wR="66040" stAng="10800000" swAng="-5400000"/>
                <a:close/>
              </a:path>
            </a:pathLst>
          </a:custGeom>
          <a:solidFill>
            <a:srgbClr val="141413">
              <a:alpha val="22000"/>
            </a:srgbClr>
          </a:solidFill>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258560" y="3627438"/>
          <a:ext cx="5115560" cy="1532890"/>
        </p:xfrm>
        <a:graphic>
          <a:graphicData uri="http://schemas.openxmlformats.org/drawingml/2006/table">
            <a:tbl>
              <a:tblPr/>
              <a:tblGrid>
                <a:gridCol w="1330046"/>
                <a:gridCol w="3785514"/>
              </a:tblGrid>
              <a:tr h="356870">
                <a:tc>
                  <a:txBody>
                    <a:bodyPr/>
                    <a:lstStyle/>
                    <a:p>
                      <a:pPr indent="0" marL="0">
                        <a:lnSpc>
                          <a:spcPts val="1820"/>
                        </a:lnSpc>
                        <a:buNone/>
                      </a:pPr>
                      <a:r>
                        <a:rPr lang="en-US" sz="1300" b="1" dirty="0">
                          <a:solidFill>
                            <a:srgbClr val="FAF9F5"/>
                          </a:solidFill>
                          <a:latin typeface="Arial" pitchFamily="34" charset="0"/>
                          <a:ea typeface="Arial" pitchFamily="34" charset="-122"/>
                          <a:cs typeface="Arial" pitchFamily="34" charset="-120"/>
                        </a:rPr>
                        <a:t>Mecze</a:t>
                      </a:r>
                      <a:endParaRPr lang="en-US" sz="1300" dirty="0">
                        <a:latin typeface="Arial" charset="0"/>
                        <a:ea typeface="Arial" charset="0"/>
                        <a:cs typeface="Arial" charset="0"/>
                      </a:endParaRPr>
                    </a:p>
                  </a:txBody>
                  <a:tcPr marL="57785" marR="57785" marT="57785" marB="57785" anchor="t">
                    <a:lnL w="0" cap="flat" cmpd="sng" algn="ctr">
                      <a:noFill/>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1820"/>
                        </a:lnSpc>
                        <a:buNone/>
                      </a:pPr>
                      <a:r>
                        <a:rPr lang="en-US" sz="1300" b="1" dirty="0">
                          <a:solidFill>
                            <a:srgbClr val="FAF9F5"/>
                          </a:solidFill>
                          <a:latin typeface="Arial" pitchFamily="34" charset="0"/>
                          <a:ea typeface="Arial" pitchFamily="34" charset="-122"/>
                          <a:cs typeface="Arial" pitchFamily="34" charset="-120"/>
                        </a:rPr>
                        <a:t>Do czego służą</a:t>
                      </a:r>
                      <a:endParaRPr lang="en-US" sz="1300" dirty="0">
                        <a:latin typeface="Arial" charset="0"/>
                        <a:ea typeface="Arial" charset="0"/>
                        <a:cs typeface="Arial" charset="0"/>
                      </a:endParaRPr>
                    </a:p>
                  </a:txBody>
                  <a:tcPr marL="57785" marR="57785" marT="57785" marB="57785"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r>
              <a:tr h="588010">
                <a:tc>
                  <a:txBody>
                    <a:bodyPr/>
                    <a:lstStyle/>
                    <a:p>
                      <a:pPr indent="0" marL="0">
                        <a:lnSpc>
                          <a:spcPts val="1820"/>
                        </a:lnSpc>
                        <a:buNone/>
                      </a:pPr>
                      <a:r>
                        <a:rPr lang="en-US" sz="1300" dirty="0">
                          <a:solidFill>
                            <a:srgbClr val="9C4221"/>
                          </a:solidFill>
                          <a:latin typeface="Arial" pitchFamily="34" charset="0"/>
                          <a:ea typeface="Arial" pitchFamily="34" charset="-122"/>
                          <a:cs typeface="Arial" pitchFamily="34" charset="-120"/>
                        </a:rPr>
                        <a:t>15 561</a:t>
                      </a:r>
                      <a:endParaRPr lang="en-US" sz="1300" dirty="0">
                        <a:latin typeface="Arial" charset="0"/>
                        <a:ea typeface="Arial" charset="0"/>
                        <a:cs typeface="Arial" charset="0"/>
                      </a:endParaRPr>
                    </a:p>
                  </a:txBody>
                  <a:tcPr marL="57785" marR="57785" marT="57785" marB="57785"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1820"/>
                        </a:lnSpc>
                        <a:buNone/>
                      </a:pPr>
                      <a:r>
                        <a:rPr lang="en-US" sz="1300" dirty="0">
                          <a:solidFill>
                            <a:srgbClr val="1C2B3A"/>
                          </a:solidFill>
                          <a:latin typeface="Arial" pitchFamily="34" charset="0"/>
                          <a:ea typeface="Arial" pitchFamily="34" charset="-122"/>
                          <a:cs typeface="Arial" pitchFamily="34" charset="-120"/>
                        </a:rPr>
                        <a:t>ranking Elo i model zwycięzcy, którym wystarczy informacja, kto kogo pokonał</a:t>
                      </a:r>
                      <a:endParaRPr lang="en-US" sz="1300" dirty="0">
                        <a:latin typeface="Arial" charset="0"/>
                        <a:ea typeface="Arial" charset="0"/>
                        <a:cs typeface="Arial" charset="0"/>
                      </a:endParaRPr>
                    </a:p>
                  </a:txBody>
                  <a:tcPr marL="57785" marR="57785" marT="57785" marB="57785"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588010">
                <a:tc>
                  <a:txBody>
                    <a:bodyPr/>
                    <a:lstStyle/>
                    <a:p>
                      <a:pPr indent="0" marL="0">
                        <a:lnSpc>
                          <a:spcPts val="1820"/>
                        </a:lnSpc>
                        <a:buNone/>
                      </a:pPr>
                      <a:r>
                        <a:rPr lang="en-US" sz="1300" dirty="0">
                          <a:solidFill>
                            <a:srgbClr val="9C4221"/>
                          </a:solidFill>
                          <a:latin typeface="Arial" pitchFamily="34" charset="0"/>
                          <a:ea typeface="Arial" pitchFamily="34" charset="-122"/>
                          <a:cs typeface="Arial" pitchFamily="34" charset="-120"/>
                        </a:rPr>
                        <a:t>14 648</a:t>
                      </a:r>
                      <a:endParaRPr lang="en-US" sz="1300" dirty="0">
                        <a:latin typeface="Arial" charset="0"/>
                        <a:ea typeface="Arial" charset="0"/>
                        <a:cs typeface="Arial" charset="0"/>
                      </a:endParaRPr>
                    </a:p>
                  </a:txBody>
                  <a:tcPr marL="57785" marR="57785" marT="57785" marB="57785"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820"/>
                        </a:lnSpc>
                        <a:buNone/>
                      </a:pPr>
                      <a:r>
                        <a:rPr lang="en-US" sz="1300" dirty="0">
                          <a:solidFill>
                            <a:srgbClr val="1C2B3A"/>
                          </a:solidFill>
                          <a:latin typeface="Arial" pitchFamily="34" charset="0"/>
                          <a:ea typeface="Arial" pitchFamily="34" charset="-122"/>
                          <a:cs typeface="Arial" pitchFamily="34" charset="-120"/>
                        </a:rPr>
                        <a:t>analiza serwisu, model asów i style gry, które wymagają kompletu statystyk</a:t>
                      </a:r>
                      <a:endParaRPr lang="en-US" sz="1300" dirty="0">
                        <a:latin typeface="Arial" charset="0"/>
                        <a:ea typeface="Arial" charset="0"/>
                        <a:cs typeface="Arial"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bl>
          </a:graphicData>
        </a:graphic>
      </p:graphicFrame>
      <p:sp>
        <p:nvSpPr>
          <p:cNvPr id="21" name="Text 18"/>
          <p:cNvSpPr/>
          <p:nvPr/>
        </p:nvSpPr>
        <p:spPr>
          <a:xfrm>
            <a:off x="6248400" y="5279707"/>
            <a:ext cx="5284724"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Przy 913 meczach brakuje statystyk serwisowych w samym źródle. Zamiast je odrzucać, oddzielamy dwa zbiory.</a:t>
            </a:r>
            <a:endParaRPr lang="en-US" sz="1250" dirty="0"/>
          </a:p>
        </p:txBody>
      </p:sp>
      <p:sp>
        <p:nvSpPr>
          <p:cNvPr id="22" name="Text 19"/>
          <p:cNvSpPr/>
          <p:nvPr/>
        </p:nvSpPr>
        <p:spPr>
          <a:xfrm>
            <a:off x="812800" y="6238241"/>
            <a:ext cx="70740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Źródło: Jeff Sackmann, zbiór tennis_atp (mirror archiwalny) · licencja CC BY-NC-SA 4.0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196850"/>
          </a:xfrm>
          <a:prstGeom prst="rect">
            <a:avLst/>
          </a:prstGeom>
          <a:noFill/>
          <a:ln/>
        </p:spPr>
        <p:txBody>
          <a:bodyPr wrap="square" lIns="0" tIns="0" rIns="0" bIns="0" rtlCol="0" anchor="t">
            <a:normAutofit/>
          </a:bodyPr>
          <a:lstStyle/>
          <a:p>
            <a:pPr algn="l" indent="0" marL="0">
              <a:lnSpc>
                <a:spcPts val="1370"/>
              </a:lnSpc>
              <a:buNone/>
            </a:pPr>
            <a:r>
              <a:rPr lang="en-US" sz="979" b="1" spc="100" kern="0" dirty="0">
                <a:solidFill>
                  <a:srgbClr val="9C4221"/>
                </a:solidFill>
                <a:latin typeface="Arial" pitchFamily="34" charset="0"/>
                <a:ea typeface="Arial" pitchFamily="34" charset="-122"/>
                <a:cs typeface="Arial" pitchFamily="34" charset="-120"/>
              </a:rPr>
              <a:t>INŻYNIERIA DANYCH</a:t>
            </a:r>
            <a:endParaRPr lang="en-US" sz="979" dirty="0"/>
          </a:p>
        </p:txBody>
      </p:sp>
      <p:sp>
        <p:nvSpPr>
          <p:cNvPr id="3" name="Text 1"/>
          <p:cNvSpPr/>
          <p:nvPr>
            <p:ph type="title"/>
          </p:nvPr>
        </p:nvSpPr>
        <p:spPr>
          <a:xfrm>
            <a:off x="812800" y="1060450"/>
            <a:ext cx="10883392" cy="451961"/>
          </a:xfrm>
          <a:prstGeom prst="rect">
            <a:avLst/>
          </a:prstGeom>
          <a:noFill/>
          <a:ln/>
        </p:spPr>
        <p:txBody>
          <a:bodyPr wrap="square" lIns="0" tIns="0" rIns="0" bIns="0" rtlCol="0" anchor="t">
            <a:normAutofit/>
          </a:bodyPr>
          <a:lstStyle/>
          <a:p>
            <a:pPr algn="l" indent="0" marL="0">
              <a:lnSpc>
                <a:spcPts val="3370"/>
              </a:lnSpc>
              <a:buNone/>
            </a:pPr>
            <a:r>
              <a:rPr lang="en-US" sz="3064" b="0" i="0" dirty="0">
                <a:solidFill>
                  <a:srgbClr val="1C2B3A"/>
                </a:solidFill>
                <a:latin typeface="EB Garamond" pitchFamily="18" charset="0"/>
                <a:ea typeface="EB Garamond" pitchFamily="18" charset="-122"/>
                <a:cs typeface="EB Garamond" pitchFamily="18" charset="-120"/>
              </a:rPr>
              <a:t>Dokładanie nowych meczów</a:t>
            </a:r>
            <a:endParaRPr lang="en-US" sz="3064" dirty="0"/>
          </a:p>
        </p:txBody>
      </p:sp>
      <p:sp>
        <p:nvSpPr>
          <p:cNvPr id="4" name="Text 2"/>
          <p:cNvSpPr/>
          <p:nvPr/>
        </p:nvSpPr>
        <p:spPr>
          <a:xfrm>
            <a:off x="812800" y="1741012"/>
            <a:ext cx="10203180" cy="495062"/>
          </a:xfrm>
          <a:prstGeom prst="rect">
            <a:avLst/>
          </a:prstGeom>
          <a:noFill/>
          <a:ln/>
        </p:spPr>
        <p:txBody>
          <a:bodyPr wrap="square" lIns="0" tIns="0" rIns="0" bIns="0" rtlCol="0" anchor="t">
            <a:normAutofit/>
          </a:bodyPr>
          <a:lstStyle/>
          <a:p>
            <a:pPr algn="l" indent="0" marL="0">
              <a:lnSpc>
                <a:spcPts val="1856"/>
              </a:lnSpc>
              <a:buNone/>
            </a:pPr>
            <a:r>
              <a:rPr lang="en-US" sz="1238" dirty="0">
                <a:solidFill>
                  <a:srgbClr val="4A5568"/>
                </a:solidFill>
                <a:latin typeface="Arial" pitchFamily="34" charset="0"/>
                <a:ea typeface="Arial" pitchFamily="34" charset="-122"/>
                <a:cs typeface="Arial" pitchFamily="34" charset="-120"/>
              </a:rPr>
              <a:t>Zbiór Sackmanna kończy się w maju 2026. Żeby domknąć sezon, dołączamy dane z drugiego źródła. Oba zapisują mecze inaczej, więc najpierw trzeba je pogodzić.</a:t>
            </a:r>
            <a:endParaRPr lang="en-US" sz="1238" dirty="0"/>
          </a:p>
        </p:txBody>
      </p:sp>
      <p:sp>
        <p:nvSpPr>
          <p:cNvPr id="5" name="Shape 3"/>
          <p:cNvSpPr/>
          <p:nvPr/>
        </p:nvSpPr>
        <p:spPr>
          <a:xfrm>
            <a:off x="815975" y="2467848"/>
            <a:ext cx="2501900" cy="1974056"/>
          </a:xfrm>
          <a:prstGeom prst="roundRect">
            <a:avLst>
              <a:gd name="adj" fmla="val 4986"/>
            </a:avLst>
          </a:prstGeom>
          <a:solidFill>
            <a:srgbClr val="FAF9F5"/>
          </a:solidFill>
          <a:ln w="6350">
            <a:solidFill>
              <a:srgbClr val="DDD8CE"/>
            </a:solidFill>
            <a:prstDash val="solid"/>
          </a:ln>
        </p:spPr>
      </p:sp>
      <p:sp>
        <p:nvSpPr>
          <p:cNvPr id="6" name="Text 4"/>
          <p:cNvSpPr/>
          <p:nvPr/>
        </p:nvSpPr>
        <p:spPr>
          <a:xfrm>
            <a:off x="1046480" y="2698353"/>
            <a:ext cx="2268220"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C2B3A"/>
                </a:solidFill>
                <a:latin typeface="Arial" pitchFamily="34" charset="0"/>
                <a:ea typeface="Arial" pitchFamily="34" charset="-122"/>
                <a:cs typeface="Arial" pitchFamily="34" charset="-120"/>
              </a:rPr>
              <a:t>Rozpoznanie formatu</a:t>
            </a:r>
            <a:endParaRPr lang="en-US" sz="1550" dirty="0"/>
          </a:p>
        </p:txBody>
      </p:sp>
      <p:sp>
        <p:nvSpPr>
          <p:cNvPr id="7" name="Text 5"/>
          <p:cNvSpPr/>
          <p:nvPr/>
        </p:nvSpPr>
        <p:spPr>
          <a:xfrm>
            <a:off x="1046480" y="3023473"/>
            <a:ext cx="2102117" cy="946150"/>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Skrypt sam wykrywa, z jakiego źródła pochodzi plik, patrząc na nazwy kolumn, i tłumaczy je na nasz format.</a:t>
            </a:r>
            <a:endParaRPr lang="en-US" sz="1250" dirty="0"/>
          </a:p>
        </p:txBody>
      </p:sp>
      <p:sp>
        <p:nvSpPr>
          <p:cNvPr id="8" name="Shape 6"/>
          <p:cNvSpPr/>
          <p:nvPr/>
        </p:nvSpPr>
        <p:spPr>
          <a:xfrm>
            <a:off x="3502025" y="2467848"/>
            <a:ext cx="2501900" cy="1974056"/>
          </a:xfrm>
          <a:prstGeom prst="roundRect">
            <a:avLst>
              <a:gd name="adj" fmla="val 4986"/>
            </a:avLst>
          </a:prstGeom>
          <a:solidFill>
            <a:srgbClr val="FAF9F5"/>
          </a:solidFill>
          <a:ln w="6350">
            <a:solidFill>
              <a:srgbClr val="DDD8CE"/>
            </a:solidFill>
            <a:prstDash val="solid"/>
          </a:ln>
        </p:spPr>
      </p:sp>
      <p:sp>
        <p:nvSpPr>
          <p:cNvPr id="9" name="Text 7"/>
          <p:cNvSpPr/>
          <p:nvPr/>
        </p:nvSpPr>
        <p:spPr>
          <a:xfrm>
            <a:off x="3732530" y="2698353"/>
            <a:ext cx="2268220" cy="439896"/>
          </a:xfrm>
          <a:prstGeom prst="rect">
            <a:avLst/>
          </a:prstGeom>
          <a:noFill/>
          <a:ln/>
        </p:spPr>
        <p:txBody>
          <a:bodyPr wrap="square" lIns="0" tIns="0" rIns="0" bIns="0" rtlCol="0" anchor="t">
            <a:normAutofit/>
          </a:bodyPr>
          <a:lstStyle/>
          <a:p>
            <a:pPr algn="l" indent="0" marL="0">
              <a:lnSpc>
                <a:spcPts val="1825"/>
              </a:lnSpc>
              <a:buNone/>
            </a:pPr>
            <a:r>
              <a:rPr lang="en-US" sz="1521" b="1" dirty="0">
                <a:solidFill>
                  <a:srgbClr val="1C2B3A"/>
                </a:solidFill>
                <a:latin typeface="Arial" pitchFamily="34" charset="0"/>
                <a:ea typeface="Arial" pitchFamily="34" charset="-122"/>
                <a:cs typeface="Arial" pitchFamily="34" charset="-120"/>
              </a:rPr>
              <a:t>Dopasowanie nazwisk</a:t>
            </a:r>
            <a:endParaRPr lang="en-US" sz="1521" dirty="0"/>
          </a:p>
        </p:txBody>
      </p:sp>
      <p:sp>
        <p:nvSpPr>
          <p:cNvPr id="10" name="Text 8"/>
          <p:cNvSpPr/>
          <p:nvPr/>
        </p:nvSpPr>
        <p:spPr>
          <a:xfrm>
            <a:off x="3732530" y="3201750"/>
            <a:ext cx="2102117" cy="1035050"/>
          </a:xfrm>
          <a:prstGeom prst="rect">
            <a:avLst/>
          </a:prstGeom>
          <a:noFill/>
          <a:ln/>
        </p:spPr>
        <p:txBody>
          <a:bodyPr wrap="square" lIns="0" tIns="0" rIns="0" bIns="0" rtlCol="0" anchor="t">
            <a:normAutofit/>
          </a:bodyPr>
          <a:lstStyle/>
          <a:p>
            <a:pPr algn="l" indent="0" marL="0">
              <a:lnSpc>
                <a:spcPts val="1592"/>
              </a:lnSpc>
              <a:buNone/>
            </a:pPr>
            <a:r>
              <a:rPr lang="en-US" sz="1098" dirty="0">
                <a:solidFill>
                  <a:srgbClr val="4A5568"/>
                </a:solidFill>
                <a:latin typeface="Arial" pitchFamily="34" charset="0"/>
                <a:ea typeface="Arial" pitchFamily="34" charset="-122"/>
                <a:cs typeface="Arial" pitchFamily="34" charset="-120"/>
              </a:rPr>
              <a:t>„Djokovic N.” to ten sam zawodnik co „Novak Djokovic”. Algorytm usuwa akcenty i radzi sobie z nazwiskami dwuczłonowymi.</a:t>
            </a:r>
            <a:endParaRPr lang="en-US" sz="1098" dirty="0"/>
          </a:p>
        </p:txBody>
      </p:sp>
      <p:sp>
        <p:nvSpPr>
          <p:cNvPr id="11" name="Shape 9"/>
          <p:cNvSpPr/>
          <p:nvPr/>
        </p:nvSpPr>
        <p:spPr>
          <a:xfrm>
            <a:off x="6188075" y="2467848"/>
            <a:ext cx="2501900" cy="1974056"/>
          </a:xfrm>
          <a:prstGeom prst="roundRect">
            <a:avLst>
              <a:gd name="adj" fmla="val 4986"/>
            </a:avLst>
          </a:prstGeom>
          <a:solidFill>
            <a:srgbClr val="FAF9F5"/>
          </a:solidFill>
          <a:ln w="6350">
            <a:solidFill>
              <a:srgbClr val="DDD8CE"/>
            </a:solidFill>
            <a:prstDash val="solid"/>
          </a:ln>
        </p:spPr>
      </p:sp>
      <p:sp>
        <p:nvSpPr>
          <p:cNvPr id="12" name="Text 10"/>
          <p:cNvSpPr/>
          <p:nvPr/>
        </p:nvSpPr>
        <p:spPr>
          <a:xfrm>
            <a:off x="6418580" y="2698353"/>
            <a:ext cx="2102117"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C2B3A"/>
                </a:solidFill>
                <a:latin typeface="Arial" pitchFamily="34" charset="0"/>
                <a:ea typeface="Arial" pitchFamily="34" charset="-122"/>
                <a:cs typeface="Arial" pitchFamily="34" charset="-120"/>
              </a:rPr>
              <a:t>Uzupełnienie braków</a:t>
            </a:r>
            <a:endParaRPr lang="en-US" sz="1550" dirty="0"/>
          </a:p>
        </p:txBody>
      </p:sp>
      <p:sp>
        <p:nvSpPr>
          <p:cNvPr id="13" name="Text 11"/>
          <p:cNvSpPr/>
          <p:nvPr/>
        </p:nvSpPr>
        <p:spPr>
          <a:xfrm>
            <a:off x="6418580" y="3023473"/>
            <a:ext cx="2102117" cy="946150"/>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Nowe źródło nie podaje wzrostu ani ręki. Bierzemy ostatnią znaną wartość z meczów, które już mamy.</a:t>
            </a:r>
            <a:endParaRPr lang="en-US" sz="1250" dirty="0"/>
          </a:p>
        </p:txBody>
      </p:sp>
      <p:sp>
        <p:nvSpPr>
          <p:cNvPr id="14" name="Shape 12"/>
          <p:cNvSpPr/>
          <p:nvPr/>
        </p:nvSpPr>
        <p:spPr>
          <a:xfrm>
            <a:off x="8874125" y="2467848"/>
            <a:ext cx="2501900" cy="1974056"/>
          </a:xfrm>
          <a:prstGeom prst="roundRect">
            <a:avLst>
              <a:gd name="adj" fmla="val 4986"/>
            </a:avLst>
          </a:prstGeom>
          <a:solidFill>
            <a:srgbClr val="FAF9F5"/>
          </a:solidFill>
          <a:ln w="6350">
            <a:solidFill>
              <a:srgbClr val="DDD8CE"/>
            </a:solidFill>
            <a:prstDash val="solid"/>
          </a:ln>
        </p:spPr>
      </p:sp>
      <p:sp>
        <p:nvSpPr>
          <p:cNvPr id="15" name="Text 13"/>
          <p:cNvSpPr/>
          <p:nvPr/>
        </p:nvSpPr>
        <p:spPr>
          <a:xfrm>
            <a:off x="9104630" y="2698353"/>
            <a:ext cx="2268220" cy="388382"/>
          </a:xfrm>
          <a:prstGeom prst="rect">
            <a:avLst/>
          </a:prstGeom>
          <a:noFill/>
          <a:ln/>
        </p:spPr>
        <p:txBody>
          <a:bodyPr wrap="square" lIns="0" tIns="0" rIns="0" bIns="0" rtlCol="0" anchor="t">
            <a:normAutofit/>
          </a:bodyPr>
          <a:lstStyle/>
          <a:p>
            <a:pPr algn="l" indent="0" marL="0">
              <a:lnSpc>
                <a:spcPts val="1761"/>
              </a:lnSpc>
              <a:buNone/>
            </a:pPr>
            <a:r>
              <a:rPr lang="en-US" sz="1468" b="1" dirty="0">
                <a:solidFill>
                  <a:srgbClr val="1C2B3A"/>
                </a:solidFill>
                <a:latin typeface="Arial" pitchFamily="34" charset="0"/>
                <a:ea typeface="Arial" pitchFamily="34" charset="-122"/>
                <a:cs typeface="Arial" pitchFamily="34" charset="-120"/>
              </a:rPr>
              <a:t>Odrzucenie duplikatów</a:t>
            </a:r>
            <a:endParaRPr lang="en-US" sz="1468" dirty="0"/>
          </a:p>
        </p:txBody>
      </p:sp>
      <p:sp>
        <p:nvSpPr>
          <p:cNvPr id="16" name="Text 14"/>
          <p:cNvSpPr/>
          <p:nvPr/>
        </p:nvSpPr>
        <p:spPr>
          <a:xfrm>
            <a:off x="9104630" y="3150236"/>
            <a:ext cx="2102117" cy="1086564"/>
          </a:xfrm>
          <a:prstGeom prst="rect">
            <a:avLst/>
          </a:prstGeom>
          <a:noFill/>
          <a:ln/>
        </p:spPr>
        <p:txBody>
          <a:bodyPr wrap="square" lIns="0" tIns="0" rIns="0" bIns="0" rtlCol="0" anchor="t">
            <a:normAutofit/>
          </a:bodyPr>
          <a:lstStyle/>
          <a:p>
            <a:pPr algn="l" indent="0" marL="0">
              <a:lnSpc>
                <a:spcPts val="1671"/>
              </a:lnSpc>
              <a:buNone/>
            </a:pPr>
            <a:r>
              <a:rPr lang="en-US" sz="1152" dirty="0">
                <a:solidFill>
                  <a:srgbClr val="4A5568"/>
                </a:solidFill>
                <a:latin typeface="Arial" pitchFamily="34" charset="0"/>
                <a:ea typeface="Arial" pitchFamily="34" charset="-122"/>
                <a:cs typeface="Arial" pitchFamily="34" charset="-120"/>
              </a:rPr>
              <a:t>Ten sam mecz w obu źródłach może mieć inną datę, bo jedno podaje początek turnieju. Porównujemy parę zawodników w oknie 14 dni.</a:t>
            </a:r>
            <a:endParaRPr lang="en-US" sz="1152" dirty="0"/>
          </a:p>
        </p:txBody>
      </p:sp>
      <p:sp>
        <p:nvSpPr>
          <p:cNvPr id="17" name="Shape 15"/>
          <p:cNvSpPr/>
          <p:nvPr/>
        </p:nvSpPr>
        <p:spPr>
          <a:xfrm>
            <a:off x="812800" y="4699079"/>
            <a:ext cx="10566400" cy="1142921"/>
          </a:xfrm>
          <a:prstGeom prst="roundRect">
            <a:avLst>
              <a:gd name="adj" fmla="val 8890"/>
            </a:avLst>
          </a:prstGeom>
          <a:solidFill>
            <a:srgbClr val="1C2B3A"/>
          </a:solidFill>
          <a:ln/>
        </p:spPr>
      </p:sp>
      <p:sp>
        <p:nvSpPr>
          <p:cNvPr id="18" name="Text 16"/>
          <p:cNvSpPr/>
          <p:nvPr/>
        </p:nvSpPr>
        <p:spPr>
          <a:xfrm>
            <a:off x="1041400" y="4927679"/>
            <a:ext cx="10412476" cy="221456"/>
          </a:xfrm>
          <a:prstGeom prst="rect">
            <a:avLst/>
          </a:prstGeom>
          <a:noFill/>
          <a:ln/>
        </p:spPr>
        <p:txBody>
          <a:bodyPr wrap="square" lIns="0" tIns="0" rIns="0" bIns="0" rtlCol="0" anchor="t">
            <a:normAutofit/>
          </a:bodyPr>
          <a:lstStyle/>
          <a:p>
            <a:pPr algn="l" indent="0" marL="0">
              <a:lnSpc>
                <a:spcPts val="1572"/>
              </a:lnSpc>
              <a:buNone/>
            </a:pPr>
            <a:r>
              <a:rPr lang="en-US" sz="1310" b="1" dirty="0">
                <a:solidFill>
                  <a:srgbClr val="FAF9F5"/>
                </a:solidFill>
                <a:latin typeface="Arial" pitchFamily="34" charset="0"/>
                <a:ea typeface="Arial" pitchFamily="34" charset="-122"/>
                <a:cs typeface="Arial" pitchFamily="34" charset="-120"/>
              </a:rPr>
              <a:t>Dlaczego to nie trafia do analizy serwisu</a:t>
            </a:r>
            <a:endParaRPr lang="en-US" sz="1310" dirty="0"/>
          </a:p>
        </p:txBody>
      </p:sp>
      <p:sp>
        <p:nvSpPr>
          <p:cNvPr id="19" name="Text 17"/>
          <p:cNvSpPr/>
          <p:nvPr/>
        </p:nvSpPr>
        <p:spPr>
          <a:xfrm>
            <a:off x="1041400" y="5199935"/>
            <a:ext cx="10412476" cy="438864"/>
          </a:xfrm>
          <a:prstGeom prst="rect">
            <a:avLst/>
          </a:prstGeom>
          <a:noFill/>
          <a:ln/>
        </p:spPr>
        <p:txBody>
          <a:bodyPr wrap="square" lIns="0" tIns="0" rIns="0" bIns="0" rtlCol="0" anchor="t">
            <a:normAutofit/>
          </a:bodyPr>
          <a:lstStyle/>
          <a:p>
            <a:pPr algn="l" indent="0" marL="0">
              <a:lnSpc>
                <a:spcPts val="1633"/>
              </a:lnSpc>
              <a:buNone/>
            </a:pPr>
            <a:r>
              <a:rPr lang="en-US" sz="1088" dirty="0">
                <a:solidFill>
                  <a:srgbClr val="B6C2CF"/>
                </a:solidFill>
                <a:latin typeface="Arial" pitchFamily="34" charset="0"/>
                <a:ea typeface="Arial" pitchFamily="34" charset="-122"/>
                <a:cs typeface="Arial" pitchFamily="34" charset="-120"/>
              </a:rPr>
              <a:t>Drugie źródło nie zawiera asów ani punktów serwisowych. Nowe mecze zasilają więc </a:t>
            </a:r>
            <a:r>
              <a:rPr lang="en-US" sz="1088" b="1" dirty="0">
                <a:solidFill>
                  <a:srgbClr val="FAF9F5"/>
                </a:solidFill>
                <a:latin typeface="Arial" pitchFamily="34" charset="0"/>
                <a:ea typeface="Arial" pitchFamily="34" charset="-122"/>
                <a:cs typeface="Arial" pitchFamily="34" charset="-120"/>
              </a:rPr>
              <a:t>wyłącznie ranking Elo i model zwycięzcy</a:t>
            </a:r>
            <a:r>
              <a:rPr lang="en-US" sz="1088" dirty="0">
                <a:solidFill>
                  <a:srgbClr val="B6C2CF"/>
                </a:solidFill>
                <a:latin typeface="Arial" pitchFamily="34" charset="0"/>
                <a:ea typeface="Arial" pitchFamily="34" charset="-122"/>
                <a:cs typeface="Arial" pitchFamily="34" charset="-120"/>
              </a:rPr>
              <a:t>, a zbiór do analizy serwisu zostaje nietknięty. Mieszanie ich zaniżyłoby średnie.</a:t>
            </a:r>
            <a:endParaRPr lang="en-US" sz="108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ETAP 1 · CZYSZCZENIE DANYCH</a:t>
            </a:r>
            <a:endParaRPr lang="en-US" sz="1200" dirty="0"/>
          </a:p>
        </p:txBody>
      </p:sp>
      <p:sp>
        <p:nvSpPr>
          <p:cNvPr id="3" name="Text 1"/>
          <p:cNvSpPr/>
          <p:nvPr>
            <p:ph type="title"/>
          </p:nvPr>
        </p:nvSpPr>
        <p:spPr>
          <a:xfrm>
            <a:off x="812800" y="1102361"/>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Normalizacja statystyk serwisu</a:t>
            </a:r>
            <a:endParaRPr lang="en-US" sz="3800" dirty="0"/>
          </a:p>
        </p:txBody>
      </p:sp>
      <p:sp>
        <p:nvSpPr>
          <p:cNvPr id="4" name="Shape 2"/>
          <p:cNvSpPr/>
          <p:nvPr/>
        </p:nvSpPr>
        <p:spPr>
          <a:xfrm>
            <a:off x="812800" y="1912621"/>
            <a:ext cx="10566400" cy="1398270"/>
          </a:xfrm>
          <a:prstGeom prst="roundRect">
            <a:avLst>
              <a:gd name="adj" fmla="val 7266"/>
            </a:avLst>
          </a:prstGeom>
          <a:solidFill>
            <a:srgbClr val="F3F1EA"/>
          </a:solidFill>
          <a:ln/>
        </p:spPr>
      </p:sp>
      <p:sp>
        <p:nvSpPr>
          <p:cNvPr id="5" name="Shape 3"/>
          <p:cNvSpPr/>
          <p:nvPr/>
        </p:nvSpPr>
        <p:spPr>
          <a:xfrm>
            <a:off x="812800" y="1912621"/>
            <a:ext cx="10566400" cy="1398270"/>
          </a:xfrm>
          <a:custGeom>
            <a:avLst/>
            <a:gdLst/>
            <a:ahLst/>
            <a:cxnLst/>
            <a:rect l="l" t="t" r="r" b="b"/>
            <a:pathLst>
              <a:path w="10566400" h="1398270">
                <a:moveTo>
                  <a:pt x="101600" y="1398270"/>
                </a:moveTo>
                <a:lnTo>
                  <a:pt x="101600" y="1398270"/>
                </a:lnTo>
                <a:arcTo hR="101600" wR="101600" stAng="5400000" swAng="5400000"/>
                <a:lnTo>
                  <a:pt x="0" y="101600"/>
                </a:lnTo>
                <a:arcTo hR="101600" wR="101600" stAng="10800000" swAng="5400000"/>
                <a:lnTo>
                  <a:pt x="101600" y="0"/>
                </a:lnTo>
                <a:arcTo hR="101600" wR="50800" stAng="16200000" swAng="-5400000"/>
                <a:lnTo>
                  <a:pt x="50800" y="1296670"/>
                </a:lnTo>
                <a:arcTo hR="101600" wR="50800" stAng="10800000" swAng="-5400000"/>
                <a:close/>
              </a:path>
            </a:pathLst>
          </a:custGeom>
          <a:solidFill>
            <a:srgbClr val="9C4221"/>
          </a:solidFill>
          <a:ln/>
        </p:spPr>
      </p:sp>
      <p:sp>
        <p:nvSpPr>
          <p:cNvPr id="6" name="Text 4"/>
          <p:cNvSpPr/>
          <p:nvPr/>
        </p:nvSpPr>
        <p:spPr>
          <a:xfrm>
            <a:off x="1168400" y="2217421"/>
            <a:ext cx="10203180" cy="454660"/>
          </a:xfrm>
          <a:prstGeom prst="rect">
            <a:avLst/>
          </a:prstGeom>
          <a:noFill/>
          <a:ln/>
        </p:spPr>
        <p:txBody>
          <a:bodyPr wrap="square" lIns="0" tIns="0" rIns="0" bIns="0" rtlCol="0" anchor="t">
            <a:normAutofit/>
          </a:bodyPr>
          <a:lstStyle/>
          <a:p>
            <a:pPr algn="l" indent="0" marL="0">
              <a:lnSpc>
                <a:spcPts val="3380"/>
              </a:lnSpc>
              <a:buNone/>
            </a:pPr>
            <a:r>
              <a:rPr lang="en-US" sz="2600" dirty="0">
                <a:solidFill>
                  <a:srgbClr val="1C2B3A"/>
                </a:solidFill>
                <a:latin typeface="EB Garamond" pitchFamily="18" charset="0"/>
                <a:ea typeface="EB Garamond" pitchFamily="18" charset="-122"/>
                <a:cs typeface="EB Garamond" pitchFamily="18" charset="-120"/>
              </a:rPr>
              <a:t>asy na 100 punktów = </a:t>
            </a:r>
            <a:r>
              <a:rPr lang="en-US" sz="2600" dirty="0">
                <a:solidFill>
                  <a:srgbClr val="9C4221"/>
                </a:solidFill>
                <a:latin typeface="EB Garamond" pitchFamily="18" charset="0"/>
                <a:ea typeface="EB Garamond" pitchFamily="18" charset="-122"/>
                <a:cs typeface="EB Garamond" pitchFamily="18" charset="-120"/>
              </a:rPr>
              <a:t>liczba asów ÷ punkty serwisowe × 100</a:t>
            </a:r>
            <a:endParaRPr lang="en-US" sz="2600" dirty="0"/>
          </a:p>
        </p:txBody>
      </p:sp>
      <p:sp>
        <p:nvSpPr>
          <p:cNvPr id="7" name="Text 5"/>
          <p:cNvSpPr/>
          <p:nvPr/>
        </p:nvSpPr>
        <p:spPr>
          <a:xfrm>
            <a:off x="1168400" y="2748282"/>
            <a:ext cx="10203180"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Analogicznie liczymy podwójne błędy oraz procent trafionych pierwszych serwisów.</a:t>
            </a:r>
            <a:endParaRPr lang="en-US" sz="1400" dirty="0"/>
          </a:p>
        </p:txBody>
      </p:sp>
      <p:sp>
        <p:nvSpPr>
          <p:cNvPr id="8" name="Text 6"/>
          <p:cNvSpPr/>
          <p:nvPr/>
        </p:nvSpPr>
        <p:spPr>
          <a:xfrm>
            <a:off x="812800" y="3590289"/>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Dlaczego nie surowa liczba asów</a:t>
            </a:r>
            <a:endParaRPr lang="en-US" sz="1800" dirty="0"/>
          </a:p>
        </p:txBody>
      </p:sp>
      <p:sp>
        <p:nvSpPr>
          <p:cNvPr id="9" name="Text 7"/>
          <p:cNvSpPr/>
          <p:nvPr/>
        </p:nvSpPr>
        <p:spPr>
          <a:xfrm>
            <a:off x="812800" y="3978911"/>
            <a:ext cx="5284724" cy="1167130"/>
          </a:xfrm>
          <a:prstGeom prst="rect">
            <a:avLst/>
          </a:prstGeom>
          <a:noFill/>
          <a:ln/>
        </p:spPr>
        <p:txBody>
          <a:bodyPr wrap="square" lIns="0" tIns="0" rIns="0" bIns="0" rtlCol="0" anchor="t">
            <a:normAutofit/>
          </a:bodyPr>
          <a:lstStyle/>
          <a:p>
            <a:pPr algn="l" indent="0" marL="0">
              <a:lnSpc>
                <a:spcPts val="2248"/>
              </a:lnSpc>
              <a:buNone/>
            </a:pPr>
            <a:r>
              <a:rPr lang="en-US" sz="1450" dirty="0">
                <a:solidFill>
                  <a:srgbClr val="4A5568"/>
                </a:solidFill>
                <a:latin typeface="Arial" pitchFamily="34" charset="0"/>
                <a:ea typeface="Arial" pitchFamily="34" charset="-122"/>
                <a:cs typeface="Arial" pitchFamily="34" charset="-120"/>
              </a:rPr>
              <a:t>Mecz pięciosetowy daje dwa razy więcej okazji na asa niż trzysetowy. Bez przeliczenia model uczyłby się przede wszystkim, że </a:t>
            </a:r>
            <a:r>
              <a:rPr lang="en-US" sz="1450" b="1" dirty="0">
                <a:solidFill>
                  <a:srgbClr val="4A5568"/>
                </a:solidFill>
                <a:latin typeface="Arial" pitchFamily="34" charset="0"/>
                <a:ea typeface="Arial" pitchFamily="34" charset="-122"/>
                <a:cs typeface="Arial" pitchFamily="34" charset="-120"/>
              </a:rPr>
              <a:t>dłuższe mecze mają więcej asów</a:t>
            </a:r>
            <a:r>
              <a:rPr lang="en-US" sz="1450" dirty="0">
                <a:solidFill>
                  <a:srgbClr val="4A5568"/>
                </a:solidFill>
                <a:latin typeface="Arial" pitchFamily="34" charset="0"/>
                <a:ea typeface="Arial" pitchFamily="34" charset="-122"/>
                <a:cs typeface="Arial" pitchFamily="34" charset="-120"/>
              </a:rPr>
              <a:t>, czyli prawdy bezużytecznej.</a:t>
            </a:r>
            <a:endParaRPr lang="en-US" sz="1450" dirty="0"/>
          </a:p>
        </p:txBody>
      </p:sp>
      <p:sp>
        <p:nvSpPr>
          <p:cNvPr id="10" name="Text 8"/>
          <p:cNvSpPr/>
          <p:nvPr/>
        </p:nvSpPr>
        <p:spPr>
          <a:xfrm>
            <a:off x="6248400" y="3590289"/>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Przykład z naszych danych</a:t>
            </a:r>
            <a:endParaRPr lang="en-US" sz="1800" dirty="0"/>
          </a:p>
        </p:txBody>
      </p:sp>
      <p:sp>
        <p:nvSpPr>
          <p:cNvPr id="11" name="Shape 9"/>
          <p:cNvSpPr/>
          <p:nvPr/>
        </p:nvSpPr>
        <p:spPr>
          <a:xfrm>
            <a:off x="6248400" y="3978911"/>
            <a:ext cx="5130800" cy="1165860"/>
          </a:xfrm>
          <a:custGeom>
            <a:avLst/>
            <a:gdLst/>
            <a:ahLst/>
            <a:cxnLst/>
            <a:rect l="l" t="t" r="r" b="b"/>
            <a:pathLst>
              <a:path w="5130800" h="1165860">
                <a:moveTo>
                  <a:pt x="5054600" y="0"/>
                </a:moveTo>
                <a:lnTo>
                  <a:pt x="5054600" y="0"/>
                </a:lnTo>
                <a:arcTo hR="76200" wR="76200" stAng="16200000" swAng="5400000"/>
                <a:lnTo>
                  <a:pt x="5130800" y="1089660"/>
                </a:lnTo>
                <a:arcTo hR="76200" wR="76200" stAng="0" swAng="5400000"/>
                <a:lnTo>
                  <a:pt x="76200" y="1165860"/>
                </a:lnTo>
                <a:arcTo hR="76200" wR="76200" stAng="5400000" swAng="5400000"/>
                <a:lnTo>
                  <a:pt x="0" y="1089660"/>
                </a:lnTo>
                <a:arcTo hR="69850" wR="76200" stAng="10800000" swAng="-5400000"/>
                <a:lnTo>
                  <a:pt x="5054600" y="1159510"/>
                </a:lnTo>
                <a:arcTo hR="69850" wR="69850" stAng="5400000" swAng="-5400000"/>
                <a:lnTo>
                  <a:pt x="5124450" y="76200"/>
                </a:lnTo>
                <a:arcTo hR="76200" wR="69850" stAng="0" swAng="-5400000"/>
                <a:close/>
              </a:path>
            </a:pathLst>
          </a:custGeom>
          <a:solidFill>
            <a:srgbClr val="DDD8CE"/>
          </a:solidFill>
          <a:ln/>
        </p:spPr>
      </p:sp>
      <p:sp>
        <p:nvSpPr>
          <p:cNvPr id="12" name="Shape 10"/>
          <p:cNvSpPr/>
          <p:nvPr/>
        </p:nvSpPr>
        <p:spPr>
          <a:xfrm>
            <a:off x="6248400" y="3978911"/>
            <a:ext cx="5130800" cy="1165860"/>
          </a:xfrm>
          <a:custGeom>
            <a:avLst/>
            <a:gdLst/>
            <a:ahLst/>
            <a:cxnLst/>
            <a:rect l="l" t="t" r="r" b="b"/>
            <a:pathLst>
              <a:path w="5130800" h="1165860">
                <a:moveTo>
                  <a:pt x="76200" y="1165860"/>
                </a:moveTo>
                <a:lnTo>
                  <a:pt x="76200" y="1165860"/>
                </a:lnTo>
                <a:arcTo hR="76200" wR="76200" stAng="5400000" swAng="5400000"/>
                <a:lnTo>
                  <a:pt x="0" y="76200"/>
                </a:lnTo>
                <a:arcTo hR="76200" wR="76200" stAng="10800000" swAng="5400000"/>
                <a:lnTo>
                  <a:pt x="5054600" y="0"/>
                </a:lnTo>
                <a:arcTo hR="76200" wR="76200" stAng="16200000" swAng="5400000"/>
                <a:lnTo>
                  <a:pt x="5130800" y="76200"/>
                </a:lnTo>
                <a:arcTo hR="66040" wR="76200" stAng="0" swAng="-5400000"/>
                <a:lnTo>
                  <a:pt x="76200" y="10160"/>
                </a:lnTo>
                <a:arcTo hR="66040" wR="66040" stAng="16200000" swAng="-5400000"/>
                <a:lnTo>
                  <a:pt x="10160" y="1089660"/>
                </a:lnTo>
                <a:arcTo hR="76200" wR="66040" stAng="10800000" swAng="-5400000"/>
                <a:close/>
              </a:path>
            </a:pathLst>
          </a:custGeom>
          <a:solidFill>
            <a:srgbClr val="141413">
              <a:alpha val="22000"/>
            </a:srgbClr>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58560" y="3989071"/>
          <a:ext cx="5115560" cy="1150620"/>
        </p:xfrm>
        <a:graphic>
          <a:graphicData uri="http://schemas.openxmlformats.org/drawingml/2006/table">
            <a:tbl>
              <a:tblPr/>
              <a:tblGrid>
                <a:gridCol w="1739290"/>
                <a:gridCol w="1943913"/>
                <a:gridCol w="1432357"/>
              </a:tblGrid>
              <a:tr h="383540">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Asy</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Punkty serw.</a:t>
                      </a:r>
                      <a:endParaRPr lang="en-US" sz="1400" dirty="0">
                        <a:latin typeface="Arial" charset="0"/>
                        <a:ea typeface="Arial" charset="0"/>
                        <a:cs typeface="Arial" charset="0"/>
                      </a:endParaRPr>
                    </a:p>
                  </a:txBody>
                  <a:tcPr marL="62230" marR="62230" marT="62230" marB="62230"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Wskaźnik</a:t>
                      </a:r>
                      <a:endParaRPr lang="en-US" sz="1400" dirty="0">
                        <a:latin typeface="Arial" charset="0"/>
                        <a:ea typeface="Arial" charset="0"/>
                        <a:cs typeface="Arial" charset="0"/>
                      </a:endParaRPr>
                    </a:p>
                  </a:txBody>
                  <a:tcPr marL="62230" marR="62230" marT="62230" marB="62230"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14</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81</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C4221"/>
                          </a:solidFill>
                          <a:latin typeface="Arial" pitchFamily="34" charset="0"/>
                          <a:ea typeface="Arial" pitchFamily="34" charset="-122"/>
                          <a:cs typeface="Arial" pitchFamily="34" charset="-120"/>
                        </a:rPr>
                        <a:t>17,3</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11</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63</a:t>
                      </a:r>
                      <a:endParaRPr lang="en-US" sz="1400" dirty="0">
                        <a:latin typeface="Arial" charset="0"/>
                        <a:ea typeface="Arial" charset="0"/>
                        <a:cs typeface="Arial"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960"/>
                        </a:lnSpc>
                        <a:buNone/>
                      </a:pPr>
                      <a:r>
                        <a:rPr lang="en-US" sz="1400" dirty="0">
                          <a:solidFill>
                            <a:srgbClr val="9C4221"/>
                          </a:solidFill>
                          <a:latin typeface="Arial" pitchFamily="34" charset="0"/>
                          <a:ea typeface="Arial" pitchFamily="34" charset="-122"/>
                          <a:cs typeface="Arial" pitchFamily="34" charset="-120"/>
                        </a:rPr>
                        <a:t>17,5</a:t>
                      </a:r>
                      <a:endParaRPr lang="en-US" sz="1400" dirty="0">
                        <a:latin typeface="Arial" charset="0"/>
                        <a:ea typeface="Arial" charset="0"/>
                        <a:cs typeface="Arial"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bl>
          </a:graphicData>
        </a:graphic>
      </p:graphicFrame>
      <p:sp>
        <p:nvSpPr>
          <p:cNvPr id="14" name="Text 11"/>
          <p:cNvSpPr/>
          <p:nvPr/>
        </p:nvSpPr>
        <p:spPr>
          <a:xfrm>
            <a:off x="6248400" y="5259071"/>
            <a:ext cx="528472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Surowo różnica wygląda na dużą. Po normalizacji widać, że serwis był niemal identyczny.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16614"/>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9C4221"/>
                </a:solidFill>
                <a:latin typeface="Arial" pitchFamily="34" charset="0"/>
                <a:ea typeface="Arial" pitchFamily="34" charset="-122"/>
                <a:cs typeface="Arial" pitchFamily="34" charset="-120"/>
              </a:rPr>
              <a:t>ETAP 2 · ANALIZA EKSPLORACYJNA</a:t>
            </a:r>
            <a:endParaRPr lang="en-US" sz="1088" dirty="0"/>
          </a:p>
        </p:txBody>
      </p:sp>
      <p:sp>
        <p:nvSpPr>
          <p:cNvPr id="3" name="Text 1"/>
          <p:cNvSpPr/>
          <p:nvPr>
            <p:ph type="title"/>
          </p:nvPr>
        </p:nvSpPr>
        <p:spPr>
          <a:xfrm>
            <a:off x="812800" y="1080216"/>
            <a:ext cx="10883392" cy="501094"/>
          </a:xfrm>
          <a:prstGeom prst="rect">
            <a:avLst/>
          </a:prstGeom>
          <a:noFill/>
          <a:ln/>
        </p:spPr>
        <p:txBody>
          <a:bodyPr wrap="square" lIns="0" tIns="0" rIns="0" bIns="0" rtlCol="0" anchor="t">
            <a:normAutofit/>
          </a:bodyPr>
          <a:lstStyle/>
          <a:p>
            <a:pPr algn="l" indent="0" marL="0">
              <a:lnSpc>
                <a:spcPts val="3762"/>
              </a:lnSpc>
              <a:buNone/>
            </a:pPr>
            <a:r>
              <a:rPr lang="en-US" sz="3420" b="0" i="0" dirty="0">
                <a:solidFill>
                  <a:srgbClr val="1C2B3A"/>
                </a:solidFill>
                <a:latin typeface="EB Garamond" pitchFamily="18" charset="0"/>
                <a:ea typeface="EB Garamond" pitchFamily="18" charset="-122"/>
                <a:cs typeface="EB Garamond" pitchFamily="18" charset="-120"/>
              </a:rPr>
              <a:t>Nawierzchnia a liczba asów</a:t>
            </a:r>
            <a:endParaRPr lang="en-US" sz="3420" dirty="0"/>
          </a:p>
        </p:txBody>
      </p:sp>
      <p:sp>
        <p:nvSpPr>
          <p:cNvPr id="4" name="Shape 2"/>
          <p:cNvSpPr/>
          <p:nvPr/>
        </p:nvSpPr>
        <p:spPr>
          <a:xfrm>
            <a:off x="812800" y="1920956"/>
            <a:ext cx="6350000" cy="3810000"/>
          </a:xfrm>
          <a:prstGeom prst="roundRect">
            <a:avLst>
              <a:gd name="adj" fmla="val 2667"/>
            </a:avLst>
          </a:prstGeom>
          <a:solidFill>
            <a:srgbClr val="FFFFFF"/>
          </a:solidFill>
          <a:ln/>
        </p:spPr>
      </p:sp>
      <p:pic>
        <p:nvPicPr>
          <p:cNvPr id="5" name="Image 0" descr="Wykres słupkowy: średnia liczba asów na 100 punktów serwisowych na mączce, trawie i korcie twardym, osobno dla zwycięzców i przegranych">    </p:cNvPr>
          <p:cNvPicPr>
            <a:picLocks noChangeAspect="1"/>
          </p:cNvPicPr>
          <p:nvPr/>
        </p:nvPicPr>
        <p:blipFill>
          <a:blip r:embed="rId1"/>
          <a:stretch>
            <a:fillRect/>
          </a:stretch>
        </p:blipFill>
        <p:spPr>
          <a:xfrm>
            <a:off x="949960" y="1927306"/>
            <a:ext cx="6075680" cy="3797300"/>
          </a:xfrm>
          <a:prstGeom prst="rect">
            <a:avLst/>
          </a:prstGeom>
        </p:spPr>
      </p:pic>
      <p:sp>
        <p:nvSpPr>
          <p:cNvPr id="6" name="Shape 3"/>
          <p:cNvSpPr/>
          <p:nvPr/>
        </p:nvSpPr>
        <p:spPr>
          <a:xfrm>
            <a:off x="815975" y="1924131"/>
            <a:ext cx="6343650" cy="3803650"/>
          </a:xfrm>
          <a:prstGeom prst="roundRect">
            <a:avLst>
              <a:gd name="adj" fmla="val 2588"/>
            </a:avLst>
          </a:prstGeom>
          <a:noFill/>
          <a:ln w="6350">
            <a:solidFill>
              <a:srgbClr val="DDD8CE"/>
            </a:solidFill>
            <a:prstDash val="solid"/>
          </a:ln>
        </p:spPr>
      </p:sp>
      <p:sp>
        <p:nvSpPr>
          <p:cNvPr id="7" name="Shape 4"/>
          <p:cNvSpPr/>
          <p:nvPr/>
        </p:nvSpPr>
        <p:spPr>
          <a:xfrm>
            <a:off x="7521575" y="1603456"/>
            <a:ext cx="3854450" cy="1358900"/>
          </a:xfrm>
          <a:prstGeom prst="roundRect">
            <a:avLst>
              <a:gd name="adj" fmla="val 7243"/>
            </a:avLst>
          </a:prstGeom>
          <a:solidFill>
            <a:srgbClr val="FFFFFF"/>
          </a:solidFill>
          <a:ln w="6350">
            <a:solidFill>
              <a:srgbClr val="DDD8CE"/>
            </a:solidFill>
            <a:prstDash val="solid"/>
          </a:ln>
        </p:spPr>
      </p:sp>
      <p:sp>
        <p:nvSpPr>
          <p:cNvPr id="8" name="Text 5"/>
          <p:cNvSpPr/>
          <p:nvPr/>
        </p:nvSpPr>
        <p:spPr>
          <a:xfrm>
            <a:off x="7726680" y="1808559"/>
            <a:ext cx="354756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Trawa</a:t>
            </a:r>
            <a:endParaRPr lang="en-US" sz="1300" dirty="0"/>
          </a:p>
        </p:txBody>
      </p:sp>
      <p:sp>
        <p:nvSpPr>
          <p:cNvPr id="9" name="Text 6"/>
          <p:cNvSpPr/>
          <p:nvPr/>
        </p:nvSpPr>
        <p:spPr>
          <a:xfrm>
            <a:off x="7726680" y="2103199"/>
            <a:ext cx="3547567"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9C4221"/>
                </a:solidFill>
                <a:latin typeface="Arial" pitchFamily="34" charset="0"/>
                <a:ea typeface="Arial" pitchFamily="34" charset="-122"/>
                <a:cs typeface="Arial" pitchFamily="34" charset="-120"/>
              </a:rPr>
              <a:t>11,6</a:t>
            </a:r>
            <a:endParaRPr lang="en-US" sz="2700" dirty="0"/>
          </a:p>
        </p:txBody>
      </p:sp>
      <p:sp>
        <p:nvSpPr>
          <p:cNvPr id="10" name="Text 7"/>
          <p:cNvSpPr/>
          <p:nvPr/>
        </p:nvSpPr>
        <p:spPr>
          <a:xfrm>
            <a:off x="7726680" y="2543891"/>
            <a:ext cx="35475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asa na 100 punktów</a:t>
            </a:r>
            <a:endParaRPr lang="en-US" sz="1200" dirty="0"/>
          </a:p>
        </p:txBody>
      </p:sp>
      <p:sp>
        <p:nvSpPr>
          <p:cNvPr id="11" name="Shape 8"/>
          <p:cNvSpPr/>
          <p:nvPr/>
        </p:nvSpPr>
        <p:spPr>
          <a:xfrm>
            <a:off x="7521575" y="3146506"/>
            <a:ext cx="3854450" cy="1358900"/>
          </a:xfrm>
          <a:prstGeom prst="roundRect">
            <a:avLst>
              <a:gd name="adj" fmla="val 7243"/>
            </a:avLst>
          </a:prstGeom>
          <a:solidFill>
            <a:srgbClr val="FFFFFF"/>
          </a:solidFill>
          <a:ln w="6350">
            <a:solidFill>
              <a:srgbClr val="DDD8CE"/>
            </a:solidFill>
            <a:prstDash val="solid"/>
          </a:ln>
        </p:spPr>
      </p:sp>
      <p:sp>
        <p:nvSpPr>
          <p:cNvPr id="12" name="Text 9"/>
          <p:cNvSpPr/>
          <p:nvPr/>
        </p:nvSpPr>
        <p:spPr>
          <a:xfrm>
            <a:off x="7726680" y="3351609"/>
            <a:ext cx="354756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Kort twardy</a:t>
            </a:r>
            <a:endParaRPr lang="en-US" sz="1300" dirty="0"/>
          </a:p>
        </p:txBody>
      </p:sp>
      <p:sp>
        <p:nvSpPr>
          <p:cNvPr id="13" name="Text 10"/>
          <p:cNvSpPr/>
          <p:nvPr/>
        </p:nvSpPr>
        <p:spPr>
          <a:xfrm>
            <a:off x="7726680" y="3646249"/>
            <a:ext cx="3547567"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9C4221"/>
                </a:solidFill>
                <a:latin typeface="Arial" pitchFamily="34" charset="0"/>
                <a:ea typeface="Arial" pitchFamily="34" charset="-122"/>
                <a:cs typeface="Arial" pitchFamily="34" charset="-120"/>
              </a:rPr>
              <a:t>10,6</a:t>
            </a:r>
            <a:endParaRPr lang="en-US" sz="2700" dirty="0"/>
          </a:p>
        </p:txBody>
      </p:sp>
      <p:sp>
        <p:nvSpPr>
          <p:cNvPr id="14" name="Text 11"/>
          <p:cNvSpPr/>
          <p:nvPr/>
        </p:nvSpPr>
        <p:spPr>
          <a:xfrm>
            <a:off x="7726680" y="4086941"/>
            <a:ext cx="35475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asa na 100 punktów</a:t>
            </a:r>
            <a:endParaRPr lang="en-US" sz="1200" dirty="0"/>
          </a:p>
        </p:txBody>
      </p:sp>
      <p:sp>
        <p:nvSpPr>
          <p:cNvPr id="15" name="Shape 12"/>
          <p:cNvSpPr/>
          <p:nvPr/>
        </p:nvSpPr>
        <p:spPr>
          <a:xfrm>
            <a:off x="7521575" y="4689556"/>
            <a:ext cx="3854450" cy="1358900"/>
          </a:xfrm>
          <a:prstGeom prst="roundRect">
            <a:avLst>
              <a:gd name="adj" fmla="val 7243"/>
            </a:avLst>
          </a:prstGeom>
          <a:solidFill>
            <a:srgbClr val="FFFFFF"/>
          </a:solidFill>
          <a:ln w="6350">
            <a:solidFill>
              <a:srgbClr val="DDD8CE"/>
            </a:solidFill>
            <a:prstDash val="solid"/>
          </a:ln>
        </p:spPr>
      </p:sp>
      <p:sp>
        <p:nvSpPr>
          <p:cNvPr id="16" name="Text 13"/>
          <p:cNvSpPr/>
          <p:nvPr/>
        </p:nvSpPr>
        <p:spPr>
          <a:xfrm>
            <a:off x="7726680" y="4894659"/>
            <a:ext cx="354756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Mączka</a:t>
            </a:r>
            <a:endParaRPr lang="en-US" sz="1300" dirty="0"/>
          </a:p>
        </p:txBody>
      </p:sp>
      <p:sp>
        <p:nvSpPr>
          <p:cNvPr id="17" name="Text 14"/>
          <p:cNvSpPr/>
          <p:nvPr/>
        </p:nvSpPr>
        <p:spPr>
          <a:xfrm>
            <a:off x="7726680" y="5189299"/>
            <a:ext cx="3547567"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1C2B3A"/>
                </a:solidFill>
                <a:latin typeface="Arial" pitchFamily="34" charset="0"/>
                <a:ea typeface="Arial" pitchFamily="34" charset="-122"/>
                <a:cs typeface="Arial" pitchFamily="34" charset="-120"/>
              </a:rPr>
              <a:t>6,3</a:t>
            </a:r>
            <a:endParaRPr lang="en-US" sz="2700" dirty="0"/>
          </a:p>
        </p:txBody>
      </p:sp>
      <p:sp>
        <p:nvSpPr>
          <p:cNvPr id="18" name="Text 15"/>
          <p:cNvSpPr/>
          <p:nvPr/>
        </p:nvSpPr>
        <p:spPr>
          <a:xfrm>
            <a:off x="7726680" y="5629991"/>
            <a:ext cx="35475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asa na 100 punktów</a:t>
            </a:r>
            <a:endParaRPr lang="en-US" sz="1200" dirty="0"/>
          </a:p>
        </p:txBody>
      </p:sp>
      <p:sp>
        <p:nvSpPr>
          <p:cNvPr id="19" name="Text 16"/>
          <p:cNvSpPr/>
          <p:nvPr/>
        </p:nvSpPr>
        <p:spPr>
          <a:xfrm>
            <a:off x="812800" y="6238239"/>
            <a:ext cx="37690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Wartości dla zwycięzców meczów · n = 14 648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Korelacje między statystykami</a:t>
            </a:r>
            <a:endParaRPr lang="en-US" sz="3800" dirty="0"/>
          </a:p>
        </p:txBody>
      </p:sp>
      <p:sp>
        <p:nvSpPr>
          <p:cNvPr id="3" name="Shape 1"/>
          <p:cNvSpPr/>
          <p:nvPr/>
        </p:nvSpPr>
        <p:spPr>
          <a:xfrm>
            <a:off x="812800" y="1597661"/>
            <a:ext cx="5461000" cy="4064000"/>
          </a:xfrm>
          <a:prstGeom prst="roundRect">
            <a:avLst>
              <a:gd name="adj" fmla="val 2500"/>
            </a:avLst>
          </a:prstGeom>
          <a:solidFill>
            <a:srgbClr val="FFFFFF"/>
          </a:solidFill>
          <a:ln/>
        </p:spPr>
      </p:sp>
      <p:pic>
        <p:nvPicPr>
          <p:cNvPr id="4" name="Image 0" descr="Macierz korelacji sześciu wskaźników serwisowych z wartościami wpisanymi w kratki">    </p:cNvPr>
          <p:cNvPicPr>
            <a:picLocks noChangeAspect="1"/>
          </p:cNvPicPr>
          <p:nvPr/>
        </p:nvPicPr>
        <p:blipFill>
          <a:blip r:embed="rId1"/>
          <a:stretch>
            <a:fillRect/>
          </a:stretch>
        </p:blipFill>
        <p:spPr>
          <a:xfrm>
            <a:off x="938893" y="1604011"/>
            <a:ext cx="5208814" cy="4051300"/>
          </a:xfrm>
          <a:prstGeom prst="rect">
            <a:avLst/>
          </a:prstGeom>
        </p:spPr>
      </p:pic>
      <p:sp>
        <p:nvSpPr>
          <p:cNvPr id="5" name="Shape 2"/>
          <p:cNvSpPr/>
          <p:nvPr/>
        </p:nvSpPr>
        <p:spPr>
          <a:xfrm>
            <a:off x="815975" y="1600836"/>
            <a:ext cx="5454650" cy="4057650"/>
          </a:xfrm>
          <a:prstGeom prst="roundRect">
            <a:avLst>
              <a:gd name="adj" fmla="val 2426"/>
            </a:avLst>
          </a:prstGeom>
          <a:noFill/>
          <a:ln w="6350">
            <a:solidFill>
              <a:srgbClr val="DDD8CE"/>
            </a:solidFill>
            <a:prstDash val="solid"/>
          </a:ln>
        </p:spPr>
      </p:sp>
      <p:sp>
        <p:nvSpPr>
          <p:cNvPr id="6" name="Text 3"/>
          <p:cNvSpPr/>
          <p:nvPr/>
        </p:nvSpPr>
        <p:spPr>
          <a:xfrm>
            <a:off x="6629400" y="1765142"/>
            <a:ext cx="4892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Jak czytać</a:t>
            </a:r>
            <a:endParaRPr lang="en-US" sz="1800" dirty="0"/>
          </a:p>
        </p:txBody>
      </p:sp>
      <p:sp>
        <p:nvSpPr>
          <p:cNvPr id="7" name="Text 4"/>
          <p:cNvSpPr/>
          <p:nvPr/>
        </p:nvSpPr>
        <p:spPr>
          <a:xfrm>
            <a:off x="6629400" y="2128363"/>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Wartości od −1 do 1. Bliżej zera oznacza brak zależności liniowej, znak mówi o kierunku. Na przekątnej zawsze 1.</a:t>
            </a:r>
            <a:endParaRPr lang="en-US" sz="1400" dirty="0"/>
          </a:p>
        </p:txBody>
      </p:sp>
      <p:sp>
        <p:nvSpPr>
          <p:cNvPr id="8" name="Shape 5"/>
          <p:cNvSpPr/>
          <p:nvPr/>
        </p:nvSpPr>
        <p:spPr>
          <a:xfrm>
            <a:off x="6629400" y="2864963"/>
            <a:ext cx="4749800" cy="1947227"/>
          </a:xfrm>
          <a:prstGeom prst="roundRect">
            <a:avLst>
              <a:gd name="adj" fmla="val 5218"/>
            </a:avLst>
          </a:prstGeom>
          <a:solidFill>
            <a:srgbClr val="1C2B3A"/>
          </a:solidFill>
          <a:ln/>
        </p:spPr>
      </p:sp>
      <p:sp>
        <p:nvSpPr>
          <p:cNvPr id="9" name="Text 6"/>
          <p:cNvSpPr/>
          <p:nvPr/>
        </p:nvSpPr>
        <p:spPr>
          <a:xfrm>
            <a:off x="6858000" y="3093563"/>
            <a:ext cx="442137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Najsilniejszy związek</a:t>
            </a:r>
            <a:endParaRPr lang="en-US" sz="1300" dirty="0"/>
          </a:p>
        </p:txBody>
      </p:sp>
      <p:sp>
        <p:nvSpPr>
          <p:cNvPr id="10" name="Text 7"/>
          <p:cNvSpPr/>
          <p:nvPr/>
        </p:nvSpPr>
        <p:spPr>
          <a:xfrm>
            <a:off x="6858000" y="3413602"/>
            <a:ext cx="4421378"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AF9F5"/>
                </a:solidFill>
                <a:latin typeface="Arial" pitchFamily="34" charset="0"/>
                <a:ea typeface="Arial" pitchFamily="34" charset="-122"/>
                <a:cs typeface="Arial" pitchFamily="34" charset="-120"/>
              </a:rPr>
              <a:t>−0,31 do −0,35</a:t>
            </a:r>
            <a:endParaRPr lang="en-US" sz="2400" dirty="0"/>
          </a:p>
        </p:txBody>
      </p:sp>
      <p:sp>
        <p:nvSpPr>
          <p:cNvPr id="11" name="Text 8"/>
          <p:cNvSpPr/>
          <p:nvPr/>
        </p:nvSpPr>
        <p:spPr>
          <a:xfrm>
            <a:off x="6858000" y="3837781"/>
            <a:ext cx="4421378" cy="771208"/>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B6C2CF"/>
                </a:solidFill>
                <a:latin typeface="Arial" pitchFamily="34" charset="0"/>
                <a:ea typeface="Arial" pitchFamily="34" charset="-122"/>
                <a:cs typeface="Arial" pitchFamily="34" charset="-120"/>
              </a:rPr>
              <a:t>między procentem pierwszego serwisu a podwójnymi błędami. Kto częściej trafia pierwsze podanie, ten rzadziej musi ryzykować drugim.</a:t>
            </a:r>
            <a:endParaRPr lang="en-US" sz="1350" dirty="0"/>
          </a:p>
        </p:txBody>
      </p:sp>
      <p:sp>
        <p:nvSpPr>
          <p:cNvPr id="12" name="Text 9"/>
          <p:cNvSpPr/>
          <p:nvPr/>
        </p:nvSpPr>
        <p:spPr>
          <a:xfrm>
            <a:off x="6629400" y="5015390"/>
            <a:ext cx="489229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Korelacja mierzy wyłącznie zależność liniową i nie dowodzi przyczyny.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57597"/>
          </a:xfrm>
          <a:prstGeom prst="rect">
            <a:avLst/>
          </a:prstGeom>
          <a:noFill/>
          <a:ln/>
        </p:spPr>
        <p:txBody>
          <a:bodyPr wrap="square" lIns="0" tIns="0" rIns="0" bIns="0" rtlCol="0" anchor="t">
            <a:normAutofit/>
          </a:bodyPr>
          <a:lstStyle/>
          <a:p>
            <a:pPr algn="l" indent="0" marL="0">
              <a:lnSpc>
                <a:spcPts val="3422"/>
              </a:lnSpc>
              <a:buNone/>
            </a:pPr>
            <a:r>
              <a:rPr lang="en-US" sz="3111" b="0" i="0" dirty="0">
                <a:solidFill>
                  <a:srgbClr val="1C2B3A"/>
                </a:solidFill>
                <a:latin typeface="EB Garamond" pitchFamily="18" charset="0"/>
                <a:ea typeface="EB Garamond" pitchFamily="18" charset="-122"/>
                <a:cs typeface="EB Garamond" pitchFamily="18" charset="-120"/>
              </a:rPr>
              <a:t>Specjalizacja nawierzchniowa</a:t>
            </a:r>
            <a:endParaRPr lang="en-US" sz="3111" dirty="0"/>
          </a:p>
        </p:txBody>
      </p:sp>
      <p:sp>
        <p:nvSpPr>
          <p:cNvPr id="3" name="Shape 1"/>
          <p:cNvSpPr/>
          <p:nvPr/>
        </p:nvSpPr>
        <p:spPr>
          <a:xfrm>
            <a:off x="812800" y="1498997"/>
            <a:ext cx="10566400" cy="2690098"/>
          </a:xfrm>
          <a:prstGeom prst="roundRect">
            <a:avLst>
              <a:gd name="adj" fmla="val 3777"/>
            </a:avLst>
          </a:prstGeom>
          <a:solidFill>
            <a:srgbClr val="FAF9F5"/>
          </a:solidFill>
          <a:ln/>
        </p:spPr>
      </p:sp>
      <p:pic>
        <p:nvPicPr>
          <p:cNvPr id="4" name="Image 0" descr="Trzy wykresy słupkowe obok siebie: dziesięciu zawodników z największą liczbą wygranych osobno na korcie twardym, mączce i trawie">    </p:cNvPr>
          <p:cNvPicPr>
            <a:picLocks noChangeAspect="1"/>
          </p:cNvPicPr>
          <p:nvPr/>
        </p:nvPicPr>
        <p:blipFill>
          <a:blip r:embed="rId1"/>
          <a:stretch>
            <a:fillRect/>
          </a:stretch>
        </p:blipFill>
        <p:spPr>
          <a:xfrm>
            <a:off x="2526136" y="1505347"/>
            <a:ext cx="7139729" cy="2677398"/>
          </a:xfrm>
          <a:prstGeom prst="rect">
            <a:avLst/>
          </a:prstGeom>
        </p:spPr>
      </p:pic>
      <p:sp>
        <p:nvSpPr>
          <p:cNvPr id="5" name="Shape 2"/>
          <p:cNvSpPr/>
          <p:nvPr/>
        </p:nvSpPr>
        <p:spPr>
          <a:xfrm>
            <a:off x="815975" y="1502172"/>
            <a:ext cx="10560050" cy="2683748"/>
          </a:xfrm>
          <a:prstGeom prst="roundRect">
            <a:avLst>
              <a:gd name="adj" fmla="val 3667"/>
            </a:avLst>
          </a:prstGeom>
          <a:noFill/>
          <a:ln w="6350">
            <a:solidFill>
              <a:srgbClr val="DDD8CE"/>
            </a:solidFill>
            <a:prstDash val="solid"/>
          </a:ln>
        </p:spPr>
      </p:sp>
      <p:sp>
        <p:nvSpPr>
          <p:cNvPr id="6" name="Shape 3"/>
          <p:cNvSpPr/>
          <p:nvPr/>
        </p:nvSpPr>
        <p:spPr>
          <a:xfrm>
            <a:off x="815975" y="4446271"/>
            <a:ext cx="3346450" cy="1392555"/>
          </a:xfrm>
          <a:prstGeom prst="roundRect">
            <a:avLst>
              <a:gd name="adj" fmla="val 7068"/>
            </a:avLst>
          </a:prstGeom>
          <a:solidFill>
            <a:srgbClr val="FAF9F5"/>
          </a:solidFill>
          <a:ln w="6350">
            <a:solidFill>
              <a:srgbClr val="DDD8CE"/>
            </a:solidFill>
            <a:prstDash val="solid"/>
          </a:ln>
        </p:spPr>
      </p:sp>
      <p:sp>
        <p:nvSpPr>
          <p:cNvPr id="7" name="Text 4"/>
          <p:cNvSpPr/>
          <p:nvPr/>
        </p:nvSpPr>
        <p:spPr>
          <a:xfrm>
            <a:off x="1021080" y="4651375"/>
            <a:ext cx="3024327" cy="251778"/>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1C2B3A"/>
                </a:solidFill>
                <a:latin typeface="Arial" pitchFamily="34" charset="0"/>
                <a:ea typeface="Arial" pitchFamily="34" charset="-122"/>
                <a:cs typeface="Arial" pitchFamily="34" charset="-120"/>
              </a:rPr>
              <a:t>Kort twardy</a:t>
            </a:r>
            <a:endParaRPr lang="en-US" sz="1520" dirty="0"/>
          </a:p>
        </p:txBody>
      </p:sp>
      <p:sp>
        <p:nvSpPr>
          <p:cNvPr id="8" name="Text 5"/>
          <p:cNvSpPr/>
          <p:nvPr/>
        </p:nvSpPr>
        <p:spPr>
          <a:xfrm>
            <a:off x="1021080" y="4941255"/>
            <a:ext cx="3024327" cy="717868"/>
          </a:xfrm>
          <a:prstGeom prst="rect">
            <a:avLst/>
          </a:prstGeom>
          <a:noFill/>
          <a:ln/>
        </p:spPr>
        <p:txBody>
          <a:bodyPr wrap="square" lIns="0" tIns="0" rIns="0" bIns="0" rtlCol="0" anchor="t">
            <a:normAutofit/>
          </a:bodyPr>
          <a:lstStyle/>
          <a:p>
            <a:pPr algn="l" indent="0" marL="0">
              <a:lnSpc>
                <a:spcPts val="1823"/>
              </a:lnSpc>
              <a:buNone/>
            </a:pPr>
            <a:r>
              <a:rPr lang="en-US" sz="1257" dirty="0">
                <a:solidFill>
                  <a:srgbClr val="4A5568"/>
                </a:solidFill>
                <a:latin typeface="Arial" pitchFamily="34" charset="0"/>
                <a:ea typeface="Arial" pitchFamily="34" charset="-122"/>
                <a:cs typeface="Arial" pitchFamily="34" charset="-120"/>
              </a:rPr>
              <a:t>Sinner i Medvedev wyraźnie przed resztą. To nawierzchnia z największą liczbą turniejów.</a:t>
            </a:r>
            <a:endParaRPr lang="en-US" sz="1257" dirty="0"/>
          </a:p>
        </p:txBody>
      </p:sp>
      <p:sp>
        <p:nvSpPr>
          <p:cNvPr id="9" name="Shape 6"/>
          <p:cNvSpPr/>
          <p:nvPr/>
        </p:nvSpPr>
        <p:spPr>
          <a:xfrm>
            <a:off x="4422775" y="4446271"/>
            <a:ext cx="3346450" cy="1392555"/>
          </a:xfrm>
          <a:prstGeom prst="roundRect">
            <a:avLst>
              <a:gd name="adj" fmla="val 7068"/>
            </a:avLst>
          </a:prstGeom>
          <a:solidFill>
            <a:srgbClr val="FAF9F5"/>
          </a:solidFill>
          <a:ln w="6350">
            <a:solidFill>
              <a:srgbClr val="DDD8CE"/>
            </a:solidFill>
            <a:prstDash val="solid"/>
          </a:ln>
        </p:spPr>
      </p:sp>
      <p:sp>
        <p:nvSpPr>
          <p:cNvPr id="10" name="Text 7"/>
          <p:cNvSpPr/>
          <p:nvPr/>
        </p:nvSpPr>
        <p:spPr>
          <a:xfrm>
            <a:off x="4627880" y="4651375"/>
            <a:ext cx="3024327" cy="206375"/>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1C2B3A"/>
                </a:solidFill>
                <a:latin typeface="Arial" pitchFamily="34" charset="0"/>
                <a:ea typeface="Arial" pitchFamily="34" charset="-122"/>
                <a:cs typeface="Arial" pitchFamily="34" charset="-120"/>
              </a:rPr>
              <a:t>Mączka</a:t>
            </a:r>
            <a:endParaRPr lang="en-US" sz="1225" dirty="0"/>
          </a:p>
        </p:txBody>
      </p:sp>
      <p:sp>
        <p:nvSpPr>
          <p:cNvPr id="11" name="Text 8"/>
          <p:cNvSpPr/>
          <p:nvPr/>
        </p:nvSpPr>
        <p:spPr>
          <a:xfrm>
            <a:off x="4627880" y="4895850"/>
            <a:ext cx="3024327" cy="763270"/>
          </a:xfrm>
          <a:prstGeom prst="rect">
            <a:avLst/>
          </a:prstGeom>
          <a:noFill/>
          <a:ln/>
        </p:spPr>
        <p:txBody>
          <a:bodyPr wrap="square" lIns="0" tIns="0" rIns="0" bIns="0" rtlCol="0" anchor="t">
            <a:normAutofit/>
          </a:bodyPr>
          <a:lstStyle/>
          <a:p>
            <a:pPr algn="l" indent="0" marL="0">
              <a:lnSpc>
                <a:spcPts val="1811"/>
              </a:lnSpc>
              <a:buNone/>
            </a:pPr>
            <a:r>
              <a:rPr lang="en-US" sz="1249" dirty="0">
                <a:solidFill>
                  <a:srgbClr val="4A5568"/>
                </a:solidFill>
                <a:latin typeface="Arial" pitchFamily="34" charset="0"/>
                <a:ea typeface="Arial" pitchFamily="34" charset="-122"/>
                <a:cs typeface="Arial" pitchFamily="34" charset="-120"/>
              </a:rPr>
              <a:t>Zupełnie inna czołówka. Ruud, Cerundolo i Baez na innych nawierzchniach nie wchodzą do dziesiątki.</a:t>
            </a:r>
            <a:endParaRPr lang="en-US" sz="1249" dirty="0"/>
          </a:p>
        </p:txBody>
      </p:sp>
      <p:sp>
        <p:nvSpPr>
          <p:cNvPr id="12" name="Shape 9"/>
          <p:cNvSpPr/>
          <p:nvPr/>
        </p:nvSpPr>
        <p:spPr>
          <a:xfrm>
            <a:off x="8029575" y="4446271"/>
            <a:ext cx="3346450" cy="1392555"/>
          </a:xfrm>
          <a:prstGeom prst="roundRect">
            <a:avLst>
              <a:gd name="adj" fmla="val 7068"/>
            </a:avLst>
          </a:prstGeom>
          <a:solidFill>
            <a:srgbClr val="FAF9F5"/>
          </a:solidFill>
          <a:ln w="6350">
            <a:solidFill>
              <a:srgbClr val="DDD8CE"/>
            </a:solidFill>
            <a:prstDash val="solid"/>
          </a:ln>
        </p:spPr>
      </p:sp>
      <p:sp>
        <p:nvSpPr>
          <p:cNvPr id="13" name="Text 10"/>
          <p:cNvSpPr/>
          <p:nvPr/>
        </p:nvSpPr>
        <p:spPr>
          <a:xfrm>
            <a:off x="8234680" y="4651375"/>
            <a:ext cx="3024327" cy="251778"/>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1C2B3A"/>
                </a:solidFill>
                <a:latin typeface="Arial" pitchFamily="34" charset="0"/>
                <a:ea typeface="Arial" pitchFamily="34" charset="-122"/>
                <a:cs typeface="Arial" pitchFamily="34" charset="-120"/>
              </a:rPr>
              <a:t>Trawa</a:t>
            </a:r>
            <a:endParaRPr lang="en-US" sz="1520" dirty="0"/>
          </a:p>
        </p:txBody>
      </p:sp>
      <p:sp>
        <p:nvSpPr>
          <p:cNvPr id="14" name="Text 11"/>
          <p:cNvSpPr/>
          <p:nvPr/>
        </p:nvSpPr>
        <p:spPr>
          <a:xfrm>
            <a:off x="8234680" y="4941255"/>
            <a:ext cx="3024327" cy="717868"/>
          </a:xfrm>
          <a:prstGeom prst="rect">
            <a:avLst/>
          </a:prstGeom>
          <a:noFill/>
          <a:ln/>
        </p:spPr>
        <p:txBody>
          <a:bodyPr wrap="square" lIns="0" tIns="0" rIns="0" bIns="0" rtlCol="0" anchor="t">
            <a:normAutofit/>
          </a:bodyPr>
          <a:lstStyle/>
          <a:p>
            <a:pPr algn="l" indent="0" marL="0">
              <a:lnSpc>
                <a:spcPts val="1823"/>
              </a:lnSpc>
              <a:buNone/>
            </a:pPr>
            <a:r>
              <a:rPr lang="en-US" sz="1257" dirty="0">
                <a:solidFill>
                  <a:srgbClr val="4A5568"/>
                </a:solidFill>
                <a:latin typeface="Arial" pitchFamily="34" charset="0"/>
                <a:ea typeface="Arial" pitchFamily="34" charset="-122"/>
                <a:cs typeface="Arial" pitchFamily="34" charset="-120"/>
              </a:rPr>
              <a:t>Najkrótszy sezon i tylko 1 533 mecze, więc liczby są niższe, a ranking mniej stabilny.</a:t>
            </a:r>
            <a:endParaRPr lang="en-US" sz="1257" dirty="0"/>
          </a:p>
        </p:txBody>
      </p:sp>
      <p:sp>
        <p:nvSpPr>
          <p:cNvPr id="15" name="Text 12"/>
          <p:cNvSpPr/>
          <p:nvPr/>
        </p:nvSpPr>
        <p:spPr>
          <a:xfrm>
            <a:off x="812800" y="6238242"/>
            <a:ext cx="38630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Liczba wygranych meczów w latach 2021–2026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2B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64"/>
                </a:solidFill>
                <a:latin typeface="Arial" pitchFamily="34" charset="0"/>
                <a:ea typeface="Arial" pitchFamily="34" charset="-122"/>
                <a:cs typeface="Arial" pitchFamily="34" charset="-120"/>
              </a:rPr>
              <a:t>ETAP 3 · WŁASNA MIARA FORMY</a:t>
            </a:r>
            <a:endParaRPr lang="en-US" sz="1200" dirty="0"/>
          </a:p>
        </p:txBody>
      </p:sp>
      <p:sp>
        <p:nvSpPr>
          <p:cNvPr id="3" name="Text 1"/>
          <p:cNvSpPr/>
          <p:nvPr>
            <p:ph type="title"/>
          </p:nvPr>
        </p:nvSpPr>
        <p:spPr>
          <a:xfrm>
            <a:off x="812800" y="1102364"/>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AF9F5"/>
                </a:solidFill>
                <a:latin typeface="EB Garamond" pitchFamily="18" charset="0"/>
                <a:ea typeface="EB Garamond" pitchFamily="18" charset="-122"/>
                <a:cs typeface="EB Garamond" pitchFamily="18" charset="-120"/>
              </a:rPr>
              <a:t>Ranking Elo</a:t>
            </a:r>
            <a:endParaRPr lang="en-US" sz="3800" dirty="0"/>
          </a:p>
        </p:txBody>
      </p:sp>
      <p:sp>
        <p:nvSpPr>
          <p:cNvPr id="4" name="Shape 2"/>
          <p:cNvSpPr/>
          <p:nvPr/>
        </p:nvSpPr>
        <p:spPr>
          <a:xfrm>
            <a:off x="812800" y="1887221"/>
            <a:ext cx="5156200" cy="1772920"/>
          </a:xfrm>
          <a:prstGeom prst="roundRect">
            <a:avLst>
              <a:gd name="adj" fmla="val 5731"/>
            </a:avLst>
          </a:prstGeom>
          <a:solidFill>
            <a:srgbClr val="263A4E"/>
          </a:solidFill>
          <a:ln/>
        </p:spPr>
      </p:sp>
      <p:sp>
        <p:nvSpPr>
          <p:cNvPr id="5" name="Text 3"/>
          <p:cNvSpPr/>
          <p:nvPr/>
        </p:nvSpPr>
        <p:spPr>
          <a:xfrm>
            <a:off x="1066800" y="2141221"/>
            <a:ext cx="478764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Oczekiwana szansa zawodnika A</a:t>
            </a:r>
            <a:endParaRPr lang="en-US" sz="1300" dirty="0"/>
          </a:p>
        </p:txBody>
      </p:sp>
      <p:sp>
        <p:nvSpPr>
          <p:cNvPr id="6" name="Text 4"/>
          <p:cNvSpPr/>
          <p:nvPr/>
        </p:nvSpPr>
        <p:spPr>
          <a:xfrm>
            <a:off x="1066800" y="2461264"/>
            <a:ext cx="4787646" cy="40259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AF9F5"/>
                </a:solidFill>
                <a:latin typeface="EB Garamond" pitchFamily="18" charset="0"/>
                <a:ea typeface="EB Garamond" pitchFamily="18" charset="-122"/>
                <a:cs typeface="EB Garamond" pitchFamily="18" charset="-120"/>
              </a:rPr>
              <a:t>SA = 1 ÷ (1 + 10(EloB − EloA) ÷ 400)</a:t>
            </a:r>
            <a:endParaRPr lang="en-US" sz="2200" dirty="0"/>
          </a:p>
        </p:txBody>
      </p:sp>
      <p:sp>
        <p:nvSpPr>
          <p:cNvPr id="7" name="Text 5"/>
          <p:cNvSpPr/>
          <p:nvPr/>
        </p:nvSpPr>
        <p:spPr>
          <a:xfrm>
            <a:off x="1066800" y="2927350"/>
            <a:ext cx="4787646"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6C2CF"/>
                </a:solidFill>
                <a:latin typeface="Arial" pitchFamily="34" charset="0"/>
                <a:ea typeface="Arial" pitchFamily="34" charset="-122"/>
                <a:cs typeface="Arial" pitchFamily="34" charset="-120"/>
              </a:rPr>
              <a:t>Przy równym Elo wychodzi 0,5. Przewaga 400 punktów daje około 10 do 1.</a:t>
            </a:r>
            <a:endParaRPr lang="en-US" sz="1300" dirty="0"/>
          </a:p>
        </p:txBody>
      </p:sp>
      <p:sp>
        <p:nvSpPr>
          <p:cNvPr id="8" name="Shape 6"/>
          <p:cNvSpPr/>
          <p:nvPr/>
        </p:nvSpPr>
        <p:spPr>
          <a:xfrm>
            <a:off x="6223000" y="1887221"/>
            <a:ext cx="5156200" cy="1772920"/>
          </a:xfrm>
          <a:prstGeom prst="roundRect">
            <a:avLst>
              <a:gd name="adj" fmla="val 5731"/>
            </a:avLst>
          </a:prstGeom>
          <a:solidFill>
            <a:srgbClr val="263A4E"/>
          </a:solidFill>
          <a:ln/>
        </p:spPr>
      </p:sp>
      <p:sp>
        <p:nvSpPr>
          <p:cNvPr id="9" name="Text 7"/>
          <p:cNvSpPr/>
          <p:nvPr/>
        </p:nvSpPr>
        <p:spPr>
          <a:xfrm>
            <a:off x="6477000" y="2141221"/>
            <a:ext cx="478764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Zmiana po meczu</a:t>
            </a:r>
            <a:endParaRPr lang="en-US" sz="1300" dirty="0"/>
          </a:p>
        </p:txBody>
      </p:sp>
      <p:sp>
        <p:nvSpPr>
          <p:cNvPr id="10" name="Text 8"/>
          <p:cNvSpPr/>
          <p:nvPr/>
        </p:nvSpPr>
        <p:spPr>
          <a:xfrm>
            <a:off x="6477000" y="2461264"/>
            <a:ext cx="4787646" cy="40259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AF9F5"/>
                </a:solidFill>
                <a:latin typeface="EB Garamond" pitchFamily="18" charset="0"/>
                <a:ea typeface="EB Garamond" pitchFamily="18" charset="-122"/>
                <a:cs typeface="EB Garamond" pitchFamily="18" charset="-120"/>
              </a:rPr>
              <a:t>Δ = K × (1 − Szwycięzcy), K = 32</a:t>
            </a:r>
            <a:endParaRPr lang="en-US" sz="2200" dirty="0"/>
          </a:p>
        </p:txBody>
      </p:sp>
      <p:sp>
        <p:nvSpPr>
          <p:cNvPr id="11" name="Text 9"/>
          <p:cNvSpPr/>
          <p:nvPr/>
        </p:nvSpPr>
        <p:spPr>
          <a:xfrm>
            <a:off x="6477000" y="2927350"/>
            <a:ext cx="4787646"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6C2CF"/>
                </a:solidFill>
                <a:latin typeface="Arial" pitchFamily="34" charset="0"/>
                <a:ea typeface="Arial" pitchFamily="34" charset="-122"/>
                <a:cs typeface="Arial" pitchFamily="34" charset="-120"/>
              </a:rPr>
              <a:t>Zwycięzca zyskuje dokładnie tyle, ile traci przegrany. Start: 1500 punktów.</a:t>
            </a:r>
            <a:endParaRPr lang="en-US" sz="1300" dirty="0"/>
          </a:p>
        </p:txBody>
      </p:sp>
      <p:sp>
        <p:nvSpPr>
          <p:cNvPr id="12" name="Text 10"/>
          <p:cNvSpPr/>
          <p:nvPr/>
        </p:nvSpPr>
        <p:spPr>
          <a:xfrm>
            <a:off x="812800" y="3914142"/>
            <a:ext cx="531088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9F5"/>
                </a:solidFill>
                <a:latin typeface="Arial" pitchFamily="34" charset="0"/>
                <a:ea typeface="Arial" pitchFamily="34" charset="-122"/>
                <a:cs typeface="Arial" pitchFamily="34" charset="-120"/>
              </a:rPr>
              <a:t>Niespodzianki ważą więcej</a:t>
            </a:r>
            <a:endParaRPr lang="en-US" sz="1700" dirty="0"/>
          </a:p>
        </p:txBody>
      </p:sp>
      <p:sp>
        <p:nvSpPr>
          <p:cNvPr id="13" name="Text 11"/>
          <p:cNvSpPr/>
          <p:nvPr/>
        </p:nvSpPr>
        <p:spPr>
          <a:xfrm>
            <a:off x="812800" y="4262121"/>
            <a:ext cx="531088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6C2CF"/>
                </a:solidFill>
                <a:latin typeface="Arial" pitchFamily="34" charset="0"/>
                <a:ea typeface="Arial" pitchFamily="34" charset="-122"/>
                <a:cs typeface="Arial" pitchFamily="34" charset="-120"/>
              </a:rPr>
              <a:t>Faworyt z 90% szans zyskuje za wygraną </a:t>
            </a:r>
            <a:r>
              <a:rPr lang="en-US" sz="1400" b="1" dirty="0">
                <a:solidFill>
                  <a:srgbClr val="FAF9F5"/>
                </a:solidFill>
                <a:latin typeface="Arial" pitchFamily="34" charset="0"/>
                <a:ea typeface="Arial" pitchFamily="34" charset="-122"/>
                <a:cs typeface="Arial" pitchFamily="34" charset="-120"/>
              </a:rPr>
              <a:t>3,2</a:t>
            </a:r>
            <a:r>
              <a:rPr lang="en-US" sz="1400" dirty="0">
                <a:solidFill>
                  <a:srgbClr val="B6C2CF"/>
                </a:solidFill>
                <a:latin typeface="Arial" pitchFamily="34" charset="0"/>
                <a:ea typeface="Arial" pitchFamily="34" charset="-122"/>
                <a:cs typeface="Arial" pitchFamily="34" charset="-120"/>
              </a:rPr>
              <a:t> punktu. Outsider z 10% szans zyskuje </a:t>
            </a:r>
            <a:r>
              <a:rPr lang="en-US" sz="1400" b="1" dirty="0">
                <a:solidFill>
                  <a:srgbClr val="FAF9F5"/>
                </a:solidFill>
                <a:latin typeface="Arial" pitchFamily="34" charset="0"/>
                <a:ea typeface="Arial" pitchFamily="34" charset="-122"/>
                <a:cs typeface="Arial" pitchFamily="34" charset="-120"/>
              </a:rPr>
              <a:t>28,8</a:t>
            </a:r>
            <a:r>
              <a:rPr lang="en-US" sz="1400" dirty="0">
                <a:solidFill>
                  <a:srgbClr val="B6C2CF"/>
                </a:solidFill>
                <a:latin typeface="Arial" pitchFamily="34" charset="0"/>
                <a:ea typeface="Arial" pitchFamily="34" charset="-122"/>
                <a:cs typeface="Arial" pitchFamily="34" charset="-120"/>
              </a:rPr>
              <a:t>. Algorytm mocniej koryguje ocenę, gdy się pomylił.</a:t>
            </a:r>
            <a:endParaRPr lang="en-US" sz="1400" dirty="0"/>
          </a:p>
        </p:txBody>
      </p:sp>
      <p:sp>
        <p:nvSpPr>
          <p:cNvPr id="14" name="Text 12"/>
          <p:cNvSpPr/>
          <p:nvPr/>
        </p:nvSpPr>
        <p:spPr>
          <a:xfrm>
            <a:off x="6223000" y="3914142"/>
            <a:ext cx="531088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9F5"/>
                </a:solidFill>
                <a:latin typeface="Arial" pitchFamily="34" charset="0"/>
                <a:ea typeface="Arial" pitchFamily="34" charset="-122"/>
                <a:cs typeface="Arial" pitchFamily="34" charset="-120"/>
              </a:rPr>
              <a:t>Czym różni się od rankingu ATP</a:t>
            </a:r>
            <a:endParaRPr lang="en-US" sz="1700" dirty="0"/>
          </a:p>
        </p:txBody>
      </p:sp>
      <p:sp>
        <p:nvSpPr>
          <p:cNvPr id="15" name="Text 13"/>
          <p:cNvSpPr/>
          <p:nvPr/>
        </p:nvSpPr>
        <p:spPr>
          <a:xfrm>
            <a:off x="6223000" y="4262121"/>
            <a:ext cx="531088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6C2CF"/>
                </a:solidFill>
                <a:latin typeface="Arial" pitchFamily="34" charset="0"/>
                <a:ea typeface="Arial" pitchFamily="34" charset="-122"/>
                <a:cs typeface="Arial" pitchFamily="34" charset="-120"/>
              </a:rPr>
              <a:t>Ranking ATP sumuje punkty za turnieje z ostatnich 12 miesięcy i nie patrzy, z kim się grało. Elo aktualizuje się po każdym meczu i uwzględnia siłę przeciwnika.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1877"/>
          </a:xfrm>
          <a:prstGeom prst="rect">
            <a:avLst/>
          </a:prstGeom>
          <a:noFill/>
          <a:ln/>
        </p:spPr>
        <p:txBody>
          <a:bodyPr wrap="square" lIns="0" tIns="0" rIns="0" bIns="0" rtlCol="0" anchor="t">
            <a:normAutofit/>
          </a:bodyPr>
          <a:lstStyle/>
          <a:p>
            <a:pPr algn="l" indent="0" marL="0">
              <a:lnSpc>
                <a:spcPts val="3070"/>
              </a:lnSpc>
              <a:buNone/>
            </a:pPr>
            <a:r>
              <a:rPr lang="en-US" sz="2791" b="0" i="0" dirty="0">
                <a:solidFill>
                  <a:srgbClr val="1C2B3A"/>
                </a:solidFill>
                <a:latin typeface="EB Garamond" pitchFamily="18" charset="0"/>
                <a:ea typeface="EB Garamond" pitchFamily="18" charset="-122"/>
                <a:cs typeface="EB Garamond" pitchFamily="18" charset="-120"/>
              </a:rPr>
              <a:t>Elo w czasie: zmiana pokoleniowa</a:t>
            </a:r>
            <a:endParaRPr lang="en-US" sz="2791" dirty="0"/>
          </a:p>
        </p:txBody>
      </p:sp>
      <p:sp>
        <p:nvSpPr>
          <p:cNvPr id="3" name="Shape 1"/>
          <p:cNvSpPr/>
          <p:nvPr/>
        </p:nvSpPr>
        <p:spPr>
          <a:xfrm>
            <a:off x="812800" y="1427876"/>
            <a:ext cx="10566400" cy="2499122"/>
          </a:xfrm>
          <a:prstGeom prst="roundRect">
            <a:avLst>
              <a:gd name="adj" fmla="val 4065"/>
            </a:avLst>
          </a:prstGeom>
          <a:solidFill>
            <a:srgbClr val="FFFFFF"/>
          </a:solidFill>
          <a:ln/>
        </p:spPr>
      </p:sp>
      <p:pic>
        <p:nvPicPr>
          <p:cNvPr id="4" name="Image 0" descr="Wykres liniowy rankingu Elo pięciu najlepszych zawodników od 2021 do 2026: Sinner i Alcaraz rosną, Djokovic opada po 2024">    </p:cNvPr>
          <p:cNvPicPr>
            <a:picLocks noChangeAspect="1"/>
          </p:cNvPicPr>
          <p:nvPr/>
        </p:nvPicPr>
        <p:blipFill>
          <a:blip r:embed="rId1"/>
          <a:stretch>
            <a:fillRect/>
          </a:stretch>
        </p:blipFill>
        <p:spPr>
          <a:xfrm>
            <a:off x="3609578" y="1434226"/>
            <a:ext cx="4972844" cy="2486422"/>
          </a:xfrm>
          <a:prstGeom prst="rect">
            <a:avLst/>
          </a:prstGeom>
        </p:spPr>
      </p:pic>
      <p:sp>
        <p:nvSpPr>
          <p:cNvPr id="5" name="Shape 2"/>
          <p:cNvSpPr/>
          <p:nvPr/>
        </p:nvSpPr>
        <p:spPr>
          <a:xfrm>
            <a:off x="815975" y="1431051"/>
            <a:ext cx="10560050" cy="2492772"/>
          </a:xfrm>
          <a:prstGeom prst="roundRect">
            <a:avLst>
              <a:gd name="adj" fmla="val 3948"/>
            </a:avLst>
          </a:prstGeom>
          <a:noFill/>
          <a:ln w="6350">
            <a:solidFill>
              <a:srgbClr val="DDD8CE"/>
            </a:solidFill>
            <a:prstDash val="solid"/>
          </a:ln>
        </p:spPr>
      </p:sp>
      <p:sp>
        <p:nvSpPr>
          <p:cNvPr id="6" name="Shape 3"/>
          <p:cNvSpPr/>
          <p:nvPr/>
        </p:nvSpPr>
        <p:spPr>
          <a:xfrm>
            <a:off x="812800" y="4155598"/>
            <a:ext cx="4953000" cy="2316480"/>
          </a:xfrm>
          <a:custGeom>
            <a:avLst/>
            <a:gdLst/>
            <a:ahLst/>
            <a:cxnLst/>
            <a:rect l="l" t="t" r="r" b="b"/>
            <a:pathLst>
              <a:path w="4953000" h="2316480">
                <a:moveTo>
                  <a:pt x="4876800" y="0"/>
                </a:moveTo>
                <a:lnTo>
                  <a:pt x="4876800" y="0"/>
                </a:lnTo>
                <a:arcTo hR="76200" wR="76200" stAng="16200000" swAng="5400000"/>
                <a:lnTo>
                  <a:pt x="4953000" y="2240280"/>
                </a:lnTo>
                <a:arcTo hR="76200" wR="76200" stAng="0" swAng="5400000"/>
                <a:lnTo>
                  <a:pt x="76200" y="2316480"/>
                </a:lnTo>
                <a:arcTo hR="76200" wR="76200" stAng="5400000" swAng="5400000"/>
                <a:lnTo>
                  <a:pt x="0" y="2240280"/>
                </a:lnTo>
                <a:arcTo hR="69850" wR="76200" stAng="10800000" swAng="-5400000"/>
                <a:lnTo>
                  <a:pt x="4876800" y="2310130"/>
                </a:lnTo>
                <a:arcTo hR="69850" wR="69850" stAng="5400000" swAng="-5400000"/>
                <a:lnTo>
                  <a:pt x="4946650" y="76200"/>
                </a:lnTo>
                <a:arcTo hR="76200" wR="69850" stAng="0" swAng="-5400000"/>
                <a:close/>
              </a:path>
            </a:pathLst>
          </a:custGeom>
          <a:solidFill>
            <a:srgbClr val="DDD8CE"/>
          </a:solidFill>
          <a:ln/>
        </p:spPr>
      </p:sp>
      <p:sp>
        <p:nvSpPr>
          <p:cNvPr id="7" name="Shape 4"/>
          <p:cNvSpPr/>
          <p:nvPr/>
        </p:nvSpPr>
        <p:spPr>
          <a:xfrm>
            <a:off x="812800" y="4155598"/>
            <a:ext cx="4953000" cy="2316480"/>
          </a:xfrm>
          <a:custGeom>
            <a:avLst/>
            <a:gdLst/>
            <a:ahLst/>
            <a:cxnLst/>
            <a:rect l="l" t="t" r="r" b="b"/>
            <a:pathLst>
              <a:path w="4953000" h="2316480">
                <a:moveTo>
                  <a:pt x="76200" y="2316480"/>
                </a:moveTo>
                <a:lnTo>
                  <a:pt x="76200" y="2316480"/>
                </a:lnTo>
                <a:arcTo hR="76200" wR="76200" stAng="5400000" swAng="5400000"/>
                <a:lnTo>
                  <a:pt x="0" y="76200"/>
                </a:lnTo>
                <a:arcTo hR="76200" wR="76200" stAng="10800000" swAng="5400000"/>
                <a:lnTo>
                  <a:pt x="4876800" y="0"/>
                </a:lnTo>
                <a:arcTo hR="76200" wR="76200" stAng="16200000" swAng="5400000"/>
                <a:lnTo>
                  <a:pt x="4953000" y="76200"/>
                </a:lnTo>
                <a:arcTo hR="66040" wR="76200" stAng="0" swAng="-5400000"/>
                <a:lnTo>
                  <a:pt x="76200" y="10160"/>
                </a:lnTo>
                <a:arcTo hR="66040" wR="66040" stAng="16200000" swAng="-5400000"/>
                <a:lnTo>
                  <a:pt x="10160" y="2240280"/>
                </a:lnTo>
                <a:arcTo hR="76200" wR="6604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4165758"/>
          <a:ext cx="4937760" cy="2301240"/>
        </p:xfrm>
        <a:graphic>
          <a:graphicData uri="http://schemas.openxmlformats.org/drawingml/2006/table">
            <a:tbl>
              <a:tblPr/>
              <a:tblGrid>
                <a:gridCol w="2962656"/>
                <a:gridCol w="1975104"/>
              </a:tblGrid>
              <a:tr h="383540">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Czołówka Elo na koniec zbioru</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Punkty</a:t>
                      </a:r>
                      <a:endParaRPr lang="en-US" sz="1400" dirty="0">
                        <a:latin typeface="Arial" charset="0"/>
                        <a:ea typeface="Arial" charset="0"/>
                        <a:cs typeface="Arial" charset="0"/>
                      </a:endParaRPr>
                    </a:p>
                  </a:txBody>
                  <a:tcPr marL="62230" marR="62230" marT="62230" marB="62230"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Jannik Sinner</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1960"/>
                        </a:lnSpc>
                        <a:buNone/>
                      </a:pPr>
                      <a:r>
                        <a:rPr lang="en-US" sz="1400" dirty="0">
                          <a:solidFill>
                            <a:srgbClr val="9C4221"/>
                          </a:solidFill>
                          <a:latin typeface="Arial" pitchFamily="34" charset="0"/>
                          <a:ea typeface="Arial" pitchFamily="34" charset="-122"/>
                          <a:cs typeface="Arial" pitchFamily="34" charset="-120"/>
                        </a:rPr>
                        <a:t>2 228</a:t>
                      </a:r>
                      <a:endParaRPr lang="en-US" sz="1400" dirty="0">
                        <a:latin typeface="Arial" charset="0"/>
                        <a:ea typeface="Arial" charset="0"/>
                        <a:cs typeface="Arial" charset="0"/>
                      </a:endParaRPr>
                    </a:p>
                  </a:txBody>
                  <a:tcPr marL="62230" marR="62230" marT="62230" marB="62230"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Carlos Alcaraz</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2 095</a:t>
                      </a:r>
                      <a:endParaRPr lang="en-US" sz="1400" dirty="0">
                        <a:latin typeface="Arial" charset="0"/>
                        <a:ea typeface="Arial" charset="0"/>
                        <a:cs typeface="Arial"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Novak Djokovic</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1 947</a:t>
                      </a:r>
                      <a:endParaRPr lang="en-US" sz="1400" dirty="0">
                        <a:latin typeface="Arial" charset="0"/>
                        <a:ea typeface="Arial" charset="0"/>
                        <a:cs typeface="Arial" charset="0"/>
                      </a:endParaRPr>
                    </a:p>
                  </a:txBody>
                  <a:tcPr marL="62230" marR="62230" marT="62230" marB="62230"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Alexander Zverev</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1 895</a:t>
                      </a:r>
                      <a:endParaRPr lang="en-US" sz="1400" dirty="0">
                        <a:latin typeface="Arial" charset="0"/>
                        <a:ea typeface="Arial" charset="0"/>
                        <a:cs typeface="Arial"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Arthur Fils</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1 882</a:t>
                      </a:r>
                      <a:endParaRPr lang="en-US" sz="1400" dirty="0">
                        <a:latin typeface="Arial" charset="0"/>
                        <a:ea typeface="Arial" charset="0"/>
                        <a:cs typeface="Arial" charset="0"/>
                      </a:endParaRPr>
                    </a:p>
                  </a:txBody>
                  <a:tcPr marL="62230" marR="62230" marT="62230" marB="62230"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bl>
          </a:graphicData>
        </a:graphic>
      </p:graphicFrame>
      <p:sp>
        <p:nvSpPr>
          <p:cNvPr id="9" name="Text 5"/>
          <p:cNvSpPr/>
          <p:nvPr/>
        </p:nvSpPr>
        <p:spPr>
          <a:xfrm>
            <a:off x="6019800" y="4155598"/>
            <a:ext cx="552018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Co widać na wykresie</a:t>
            </a:r>
            <a:endParaRPr lang="en-US" sz="1700" dirty="0"/>
          </a:p>
        </p:txBody>
      </p:sp>
      <p:sp>
        <p:nvSpPr>
          <p:cNvPr id="10" name="Text 6"/>
          <p:cNvSpPr/>
          <p:nvPr/>
        </p:nvSpPr>
        <p:spPr>
          <a:xfrm>
            <a:off x="6019800" y="4503582"/>
            <a:ext cx="5520182"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Djokovic prowadzi do końca 2023 roku, po czym jego krzywa opada, a Sinner i Alcaraz systematycznie rosną. Ranking Elo wychwycił tę zmianę </a:t>
            </a:r>
            <a:r>
              <a:rPr lang="en-US" sz="1400" b="1" dirty="0">
                <a:solidFill>
                  <a:srgbClr val="4A5568"/>
                </a:solidFill>
                <a:latin typeface="Arial" pitchFamily="34" charset="0"/>
                <a:ea typeface="Arial" pitchFamily="34" charset="-122"/>
                <a:cs typeface="Arial" pitchFamily="34" charset="-120"/>
              </a:rPr>
              <a:t>szybciej niż ranking ATP</a:t>
            </a:r>
            <a:r>
              <a:rPr lang="en-US" sz="1400" dirty="0">
                <a:solidFill>
                  <a:srgbClr val="4A5568"/>
                </a:solidFill>
                <a:latin typeface="Arial" pitchFamily="34" charset="0"/>
                <a:ea typeface="Arial" pitchFamily="34" charset="-122"/>
                <a:cs typeface="Arial" pitchFamily="34" charset="-120"/>
              </a:rPr>
              <a:t>, ponieważ reaguje po każdym meczu, a nie po całym cyklu turniejowym.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ETAP 4 · UCZENIE MASZYNOWE</a:t>
            </a:r>
            <a:endParaRPr lang="en-US" sz="1200" dirty="0"/>
          </a:p>
        </p:txBody>
      </p:sp>
      <p:sp>
        <p:nvSpPr>
          <p:cNvPr id="3" name="Text 1"/>
          <p:cNvSpPr/>
          <p:nvPr>
            <p:ph type="title"/>
          </p:nvPr>
        </p:nvSpPr>
        <p:spPr>
          <a:xfrm>
            <a:off x="812800" y="1102364"/>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Jak uczy się model</a:t>
            </a:r>
            <a:endParaRPr lang="en-US" sz="3800" dirty="0"/>
          </a:p>
        </p:txBody>
      </p:sp>
      <p:sp>
        <p:nvSpPr>
          <p:cNvPr id="4" name="Shape 2"/>
          <p:cNvSpPr/>
          <p:nvPr/>
        </p:nvSpPr>
        <p:spPr>
          <a:xfrm>
            <a:off x="815975" y="1890396"/>
            <a:ext cx="2501900" cy="1880235"/>
          </a:xfrm>
          <a:prstGeom prst="roundRect">
            <a:avLst>
              <a:gd name="adj" fmla="val 5235"/>
            </a:avLst>
          </a:prstGeom>
          <a:solidFill>
            <a:srgbClr val="FAF9F5"/>
          </a:solidFill>
          <a:ln w="6350">
            <a:solidFill>
              <a:srgbClr val="DDD8CE"/>
            </a:solidFill>
            <a:prstDash val="solid"/>
          </a:ln>
        </p:spPr>
      </p:sp>
      <p:sp>
        <p:nvSpPr>
          <p:cNvPr id="5" name="Text 3"/>
          <p:cNvSpPr/>
          <p:nvPr/>
        </p:nvSpPr>
        <p:spPr>
          <a:xfrm>
            <a:off x="1046480" y="2120900"/>
            <a:ext cx="2102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C4221"/>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046480" y="2489200"/>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Cechy i odpowiedź</a:t>
            </a:r>
            <a:endParaRPr lang="en-US" sz="1600" dirty="0"/>
          </a:p>
        </p:txBody>
      </p:sp>
      <p:sp>
        <p:nvSpPr>
          <p:cNvPr id="7" name="Text 5"/>
          <p:cNvSpPr/>
          <p:nvPr/>
        </p:nvSpPr>
        <p:spPr>
          <a:xfrm>
            <a:off x="1046480" y="2821942"/>
            <a:ext cx="210211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Mecz zamieniamy na zestaw liczb oraz odpowiedź, której szukamy.</a:t>
            </a:r>
            <a:endParaRPr lang="en-US" sz="1300" dirty="0"/>
          </a:p>
        </p:txBody>
      </p:sp>
      <p:sp>
        <p:nvSpPr>
          <p:cNvPr id="8" name="Shape 6"/>
          <p:cNvSpPr/>
          <p:nvPr/>
        </p:nvSpPr>
        <p:spPr>
          <a:xfrm>
            <a:off x="3502025" y="1890396"/>
            <a:ext cx="2501900" cy="1880235"/>
          </a:xfrm>
          <a:prstGeom prst="roundRect">
            <a:avLst>
              <a:gd name="adj" fmla="val 5235"/>
            </a:avLst>
          </a:prstGeom>
          <a:solidFill>
            <a:srgbClr val="FAF9F5"/>
          </a:solidFill>
          <a:ln w="6350">
            <a:solidFill>
              <a:srgbClr val="DDD8CE"/>
            </a:solidFill>
            <a:prstDash val="solid"/>
          </a:ln>
        </p:spPr>
      </p:sp>
      <p:sp>
        <p:nvSpPr>
          <p:cNvPr id="9" name="Text 7"/>
          <p:cNvSpPr/>
          <p:nvPr/>
        </p:nvSpPr>
        <p:spPr>
          <a:xfrm>
            <a:off x="3732530" y="2120900"/>
            <a:ext cx="2102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C4221"/>
                </a:solidFill>
                <a:latin typeface="Arial" pitchFamily="34" charset="0"/>
                <a:ea typeface="Arial" pitchFamily="34" charset="-122"/>
                <a:cs typeface="Arial" pitchFamily="34" charset="-120"/>
              </a:rPr>
              <a:t>2</a:t>
            </a:r>
            <a:endParaRPr lang="en-US" sz="2200" dirty="0"/>
          </a:p>
        </p:txBody>
      </p:sp>
      <p:sp>
        <p:nvSpPr>
          <p:cNvPr id="10" name="Text 8"/>
          <p:cNvSpPr/>
          <p:nvPr/>
        </p:nvSpPr>
        <p:spPr>
          <a:xfrm>
            <a:off x="3732530" y="2489200"/>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Trenowanie</a:t>
            </a:r>
            <a:endParaRPr lang="en-US" sz="1600" dirty="0"/>
          </a:p>
        </p:txBody>
      </p:sp>
      <p:sp>
        <p:nvSpPr>
          <p:cNvPr id="11" name="Text 9"/>
          <p:cNvSpPr/>
          <p:nvPr/>
        </p:nvSpPr>
        <p:spPr>
          <a:xfrm>
            <a:off x="3732530" y="2821942"/>
            <a:ext cx="210211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Model zgaduje, porównuje z prawdą i koryguje wagi. Tysiące powtórzeń.</a:t>
            </a:r>
            <a:endParaRPr lang="en-US" sz="1300" dirty="0"/>
          </a:p>
        </p:txBody>
      </p:sp>
      <p:sp>
        <p:nvSpPr>
          <p:cNvPr id="12" name="Shape 10"/>
          <p:cNvSpPr/>
          <p:nvPr/>
        </p:nvSpPr>
        <p:spPr>
          <a:xfrm>
            <a:off x="6188075" y="1890396"/>
            <a:ext cx="2501900" cy="1880235"/>
          </a:xfrm>
          <a:prstGeom prst="roundRect">
            <a:avLst>
              <a:gd name="adj" fmla="val 5235"/>
            </a:avLst>
          </a:prstGeom>
          <a:solidFill>
            <a:srgbClr val="FAF9F5"/>
          </a:solidFill>
          <a:ln w="6350">
            <a:solidFill>
              <a:srgbClr val="DDD8CE"/>
            </a:solidFill>
            <a:prstDash val="solid"/>
          </a:ln>
        </p:spPr>
      </p:sp>
      <p:sp>
        <p:nvSpPr>
          <p:cNvPr id="13" name="Text 11"/>
          <p:cNvSpPr/>
          <p:nvPr/>
        </p:nvSpPr>
        <p:spPr>
          <a:xfrm>
            <a:off x="6418580" y="2120900"/>
            <a:ext cx="2102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C4221"/>
                </a:solidFill>
                <a:latin typeface="Arial" pitchFamily="34" charset="0"/>
                <a:ea typeface="Arial" pitchFamily="34" charset="-122"/>
                <a:cs typeface="Arial" pitchFamily="34" charset="-120"/>
              </a:rPr>
              <a:t>3</a:t>
            </a:r>
            <a:endParaRPr lang="en-US" sz="2200" dirty="0"/>
          </a:p>
        </p:txBody>
      </p:sp>
      <p:sp>
        <p:nvSpPr>
          <p:cNvPr id="14" name="Text 12"/>
          <p:cNvSpPr/>
          <p:nvPr/>
        </p:nvSpPr>
        <p:spPr>
          <a:xfrm>
            <a:off x="6418580" y="2489200"/>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Testowanie</a:t>
            </a:r>
            <a:endParaRPr lang="en-US" sz="1600" dirty="0"/>
          </a:p>
        </p:txBody>
      </p:sp>
      <p:sp>
        <p:nvSpPr>
          <p:cNvPr id="15" name="Text 13"/>
          <p:cNvSpPr/>
          <p:nvPr/>
        </p:nvSpPr>
        <p:spPr>
          <a:xfrm>
            <a:off x="6418580" y="2821942"/>
            <a:ext cx="210211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Sprawdzamy na meczach, których model nigdy nie widział.</a:t>
            </a:r>
            <a:endParaRPr lang="en-US" sz="1300" dirty="0"/>
          </a:p>
        </p:txBody>
      </p:sp>
      <p:sp>
        <p:nvSpPr>
          <p:cNvPr id="16" name="Shape 14"/>
          <p:cNvSpPr/>
          <p:nvPr/>
        </p:nvSpPr>
        <p:spPr>
          <a:xfrm>
            <a:off x="8874125" y="1890396"/>
            <a:ext cx="2501900" cy="1880235"/>
          </a:xfrm>
          <a:prstGeom prst="roundRect">
            <a:avLst>
              <a:gd name="adj" fmla="val 5235"/>
            </a:avLst>
          </a:prstGeom>
          <a:solidFill>
            <a:srgbClr val="FAF9F5"/>
          </a:solidFill>
          <a:ln w="6350">
            <a:solidFill>
              <a:srgbClr val="DDD8CE"/>
            </a:solidFill>
            <a:prstDash val="solid"/>
          </a:ln>
        </p:spPr>
      </p:sp>
      <p:sp>
        <p:nvSpPr>
          <p:cNvPr id="17" name="Text 15"/>
          <p:cNvSpPr/>
          <p:nvPr/>
        </p:nvSpPr>
        <p:spPr>
          <a:xfrm>
            <a:off x="9104630" y="2120900"/>
            <a:ext cx="2102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C4221"/>
                </a:solidFill>
                <a:latin typeface="Arial" pitchFamily="34" charset="0"/>
                <a:ea typeface="Arial" pitchFamily="34" charset="-122"/>
                <a:cs typeface="Arial" pitchFamily="34" charset="-120"/>
              </a:rPr>
              <a:t>4</a:t>
            </a:r>
            <a:endParaRPr lang="en-US" sz="2200" dirty="0"/>
          </a:p>
        </p:txBody>
      </p:sp>
      <p:sp>
        <p:nvSpPr>
          <p:cNvPr id="18" name="Text 16"/>
          <p:cNvSpPr/>
          <p:nvPr/>
        </p:nvSpPr>
        <p:spPr>
          <a:xfrm>
            <a:off x="9104630" y="2489200"/>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Punkt odniesienia</a:t>
            </a:r>
            <a:endParaRPr lang="en-US" sz="1600" dirty="0"/>
          </a:p>
        </p:txBody>
      </p:sp>
      <p:sp>
        <p:nvSpPr>
          <p:cNvPr id="19" name="Text 17"/>
          <p:cNvSpPr/>
          <p:nvPr/>
        </p:nvSpPr>
        <p:spPr>
          <a:xfrm>
            <a:off x="9104630" y="2821942"/>
            <a:ext cx="210211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Wynik porównujemy z rzutem monetą albo zgadywaniem średniej.</a:t>
            </a:r>
            <a:endParaRPr lang="en-US" sz="1300" dirty="0"/>
          </a:p>
        </p:txBody>
      </p:sp>
      <p:sp>
        <p:nvSpPr>
          <p:cNvPr id="20" name="Shape 18"/>
          <p:cNvSpPr/>
          <p:nvPr/>
        </p:nvSpPr>
        <p:spPr>
          <a:xfrm>
            <a:off x="812800" y="4027804"/>
            <a:ext cx="10566400" cy="1389380"/>
          </a:xfrm>
          <a:prstGeom prst="roundRect">
            <a:avLst>
              <a:gd name="adj" fmla="val 7313"/>
            </a:avLst>
          </a:prstGeom>
          <a:solidFill>
            <a:srgbClr val="1C2B3A"/>
          </a:solidFill>
          <a:ln/>
        </p:spPr>
      </p:sp>
      <p:sp>
        <p:nvSpPr>
          <p:cNvPr id="21" name="Text 19"/>
          <p:cNvSpPr/>
          <p:nvPr/>
        </p:nvSpPr>
        <p:spPr>
          <a:xfrm>
            <a:off x="1066800" y="4281804"/>
            <a:ext cx="1036015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9F5"/>
                </a:solidFill>
                <a:latin typeface="Arial" pitchFamily="34" charset="0"/>
                <a:ea typeface="Arial" pitchFamily="34" charset="-122"/>
                <a:cs typeface="Arial" pitchFamily="34" charset="-120"/>
              </a:rPr>
              <a:t>Podział danych po czasie, nie losowo</a:t>
            </a:r>
            <a:endParaRPr lang="en-US" sz="1700" dirty="0"/>
          </a:p>
        </p:txBody>
      </p:sp>
      <p:sp>
        <p:nvSpPr>
          <p:cNvPr id="22" name="Text 20"/>
          <p:cNvSpPr/>
          <p:nvPr/>
        </p:nvSpPr>
        <p:spPr>
          <a:xfrm>
            <a:off x="1066800" y="4629789"/>
            <a:ext cx="1036015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6C2CF"/>
                </a:solidFill>
                <a:latin typeface="Arial" pitchFamily="34" charset="0"/>
                <a:ea typeface="Arial" pitchFamily="34" charset="-122"/>
                <a:cs typeface="Arial" pitchFamily="34" charset="-120"/>
              </a:rPr>
              <a:t>Model uczy się na 80% najstarszych meczów, a sprawdzamy go na 20% najnowszych. Podział losowy pozwoliłby mu uczyć się na grudniu i odpowiadać o styczniu, czyli znać przyszłość. Po zmierzeniu jakości model douczamy na komplecie danych.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MODEL 1 · KLASYFIKACJA · REGRESJA LOGISTYCZNA</a:t>
            </a:r>
            <a:endParaRPr lang="en-US" sz="1200" dirty="0"/>
          </a:p>
        </p:txBody>
      </p:sp>
      <p:sp>
        <p:nvSpPr>
          <p:cNvPr id="3" name="Text 1"/>
          <p:cNvSpPr/>
          <p:nvPr>
            <p:ph type="title"/>
          </p:nvPr>
        </p:nvSpPr>
        <p:spPr>
          <a:xfrm>
            <a:off x="812800" y="1102364"/>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Kto wygra mecz?</a:t>
            </a:r>
            <a:endParaRPr lang="en-US" sz="3800" dirty="0"/>
          </a:p>
        </p:txBody>
      </p:sp>
      <p:sp>
        <p:nvSpPr>
          <p:cNvPr id="4" name="Text 2"/>
          <p:cNvSpPr/>
          <p:nvPr/>
        </p:nvSpPr>
        <p:spPr>
          <a:xfrm>
            <a:off x="812800" y="1861821"/>
            <a:ext cx="588645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Porównanie trzech wariantów</a:t>
            </a:r>
            <a:endParaRPr lang="en-US" sz="1700" dirty="0"/>
          </a:p>
        </p:txBody>
      </p:sp>
      <p:sp>
        <p:nvSpPr>
          <p:cNvPr id="5" name="Shape 3"/>
          <p:cNvSpPr/>
          <p:nvPr/>
        </p:nvSpPr>
        <p:spPr>
          <a:xfrm>
            <a:off x="812800" y="2247900"/>
            <a:ext cx="5715000" cy="2066290"/>
          </a:xfrm>
          <a:custGeom>
            <a:avLst/>
            <a:gdLst/>
            <a:ahLst/>
            <a:cxnLst/>
            <a:rect l="l" t="t" r="r" b="b"/>
            <a:pathLst>
              <a:path w="5715000" h="2066290">
                <a:moveTo>
                  <a:pt x="5638800" y="0"/>
                </a:moveTo>
                <a:lnTo>
                  <a:pt x="5638800" y="0"/>
                </a:lnTo>
                <a:arcTo hR="76200" wR="76200" stAng="16200000" swAng="5400000"/>
                <a:lnTo>
                  <a:pt x="5715000" y="1990090"/>
                </a:lnTo>
                <a:arcTo hR="76200" wR="76200" stAng="0" swAng="5400000"/>
                <a:lnTo>
                  <a:pt x="76200" y="2066290"/>
                </a:lnTo>
                <a:arcTo hR="76200" wR="76200" stAng="5400000" swAng="5400000"/>
                <a:lnTo>
                  <a:pt x="0" y="1990090"/>
                </a:lnTo>
                <a:arcTo hR="69850" wR="76200" stAng="10800000" swAng="-5400000"/>
                <a:lnTo>
                  <a:pt x="5638800" y="2059940"/>
                </a:lnTo>
                <a:arcTo hR="69850" wR="69850" stAng="5400000" swAng="-5400000"/>
                <a:lnTo>
                  <a:pt x="5708650" y="76200"/>
                </a:lnTo>
                <a:arcTo hR="76200" wR="69850" stAng="0" swAng="-5400000"/>
                <a:close/>
              </a:path>
            </a:pathLst>
          </a:custGeom>
          <a:solidFill>
            <a:srgbClr val="DDD8CE"/>
          </a:solidFill>
          <a:ln/>
        </p:spPr>
      </p:sp>
      <p:sp>
        <p:nvSpPr>
          <p:cNvPr id="6" name="Shape 4"/>
          <p:cNvSpPr/>
          <p:nvPr/>
        </p:nvSpPr>
        <p:spPr>
          <a:xfrm>
            <a:off x="812800" y="2247900"/>
            <a:ext cx="5715000" cy="2066290"/>
          </a:xfrm>
          <a:custGeom>
            <a:avLst/>
            <a:gdLst/>
            <a:ahLst/>
            <a:cxnLst/>
            <a:rect l="l" t="t" r="r" b="b"/>
            <a:pathLst>
              <a:path w="5715000" h="2066290">
                <a:moveTo>
                  <a:pt x="76200" y="2066290"/>
                </a:moveTo>
                <a:lnTo>
                  <a:pt x="76200" y="2066290"/>
                </a:lnTo>
                <a:arcTo hR="76200" wR="76200" stAng="5400000" swAng="5400000"/>
                <a:lnTo>
                  <a:pt x="0" y="76200"/>
                </a:lnTo>
                <a:arcTo hR="76200" wR="76200" stAng="10800000" swAng="5400000"/>
                <a:lnTo>
                  <a:pt x="5638800" y="0"/>
                </a:lnTo>
                <a:arcTo hR="76200" wR="76200" stAng="16200000" swAng="5400000"/>
                <a:lnTo>
                  <a:pt x="5715000" y="76200"/>
                </a:lnTo>
                <a:arcTo hR="66040" wR="76200" stAng="0" swAng="-5400000"/>
                <a:lnTo>
                  <a:pt x="76200" y="10160"/>
                </a:lnTo>
                <a:arcTo hR="66040" wR="66040" stAng="16200000" swAng="-5400000"/>
                <a:lnTo>
                  <a:pt x="10160" y="1990090"/>
                </a:lnTo>
                <a:arcTo hR="76200" wR="660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258060"/>
          <a:ext cx="5699760" cy="2051050"/>
        </p:xfrm>
        <a:graphic>
          <a:graphicData uri="http://schemas.openxmlformats.org/drawingml/2006/table">
            <a:tbl>
              <a:tblPr/>
              <a:tblGrid>
                <a:gridCol w="3533851"/>
                <a:gridCol w="2165909"/>
              </a:tblGrid>
              <a:tr h="410210">
                <a:tc>
                  <a:txBody>
                    <a:bodyPr/>
                    <a:lstStyle/>
                    <a:p>
                      <a:pPr indent="0" marL="0">
                        <a:lnSpc>
                          <a:spcPts val="2100"/>
                        </a:lnSpc>
                        <a:buNone/>
                      </a:pPr>
                      <a:r>
                        <a:rPr lang="en-US" sz="1500" b="1" dirty="0">
                          <a:solidFill>
                            <a:srgbClr val="FAF9F5"/>
                          </a:solidFill>
                          <a:latin typeface="Arial" pitchFamily="34" charset="0"/>
                          <a:ea typeface="Arial" pitchFamily="34" charset="-122"/>
                          <a:cs typeface="Arial" pitchFamily="34" charset="-120"/>
                        </a:rPr>
                        <a:t>Cechy podane modelowi</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2100"/>
                        </a:lnSpc>
                        <a:buNone/>
                      </a:pPr>
                      <a:r>
                        <a:rPr lang="en-US" sz="1500" b="1" dirty="0">
                          <a:solidFill>
                            <a:srgbClr val="FAF9F5"/>
                          </a:solidFill>
                          <a:latin typeface="Arial" pitchFamily="34" charset="0"/>
                          <a:ea typeface="Arial" pitchFamily="34" charset="-122"/>
                          <a:cs typeface="Arial" pitchFamily="34" charset="-120"/>
                        </a:rPr>
                        <a:t>Dokładność</a:t>
                      </a:r>
                      <a:endParaRPr lang="en-US" sz="1500" dirty="0">
                        <a:latin typeface="Arial" charset="0"/>
                        <a:ea typeface="Arial" charset="0"/>
                        <a:cs typeface="Arial" charset="0"/>
                      </a:endParaRPr>
                    </a:p>
                  </a:txBody>
                  <a:tcPr marL="66675" marR="66675" marT="66675" marB="66675"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r>
              <a:tr h="410210">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Tylko ranking ATP</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64,79%</a:t>
                      </a:r>
                      <a:endParaRPr lang="en-US" sz="1500" dirty="0">
                        <a:latin typeface="Arial" charset="0"/>
                        <a:ea typeface="Arial" charset="0"/>
                        <a:cs typeface="Arial" charset="0"/>
                      </a:endParaRPr>
                    </a:p>
                  </a:txBody>
                  <a:tcPr marL="66675" marR="66675" marT="66675" marB="66675"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410210">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Tylko Elo</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2100"/>
                        </a:lnSpc>
                        <a:buNone/>
                      </a:pPr>
                      <a:r>
                        <a:rPr lang="en-US" sz="1500" dirty="0">
                          <a:solidFill>
                            <a:srgbClr val="9C4221"/>
                          </a:solidFill>
                          <a:latin typeface="Arial" pitchFamily="34" charset="0"/>
                          <a:ea typeface="Arial" pitchFamily="34" charset="-122"/>
                          <a:cs typeface="Arial" pitchFamily="34" charset="-120"/>
                        </a:rPr>
                        <a:t>65,10%</a:t>
                      </a:r>
                      <a:endParaRPr lang="en-US" sz="1500" dirty="0">
                        <a:latin typeface="Arial" charset="0"/>
                        <a:ea typeface="Arial" charset="0"/>
                        <a:cs typeface="Arial" charset="0"/>
                      </a:endParaRPr>
                    </a:p>
                  </a:txBody>
                  <a:tcPr marL="66675" marR="66675" marT="66675" marB="6667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410210">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Wszystko razem</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2100"/>
                        </a:lnSpc>
                        <a:buNone/>
                      </a:pPr>
                      <a:r>
                        <a:rPr lang="en-US" sz="1500" dirty="0">
                          <a:solidFill>
                            <a:srgbClr val="9C4221"/>
                          </a:solidFill>
                          <a:latin typeface="Arial" pitchFamily="34" charset="0"/>
                          <a:ea typeface="Arial" pitchFamily="34" charset="-122"/>
                          <a:cs typeface="Arial" pitchFamily="34" charset="-120"/>
                        </a:rPr>
                        <a:t>65,10%</a:t>
                      </a:r>
                      <a:endParaRPr lang="en-US" sz="1500" dirty="0">
                        <a:latin typeface="Arial" charset="0"/>
                        <a:ea typeface="Arial" charset="0"/>
                        <a:cs typeface="Arial" charset="0"/>
                      </a:endParaRPr>
                    </a:p>
                  </a:txBody>
                  <a:tcPr marL="66675" marR="66675" marT="66675" marB="66675"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410210">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Rzut monetą (odniesienie)</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50,00%</a:t>
                      </a:r>
                      <a:endParaRPr lang="en-US" sz="1500" dirty="0">
                        <a:latin typeface="Arial" charset="0"/>
                        <a:ea typeface="Arial" charset="0"/>
                        <a:cs typeface="Arial" charset="0"/>
                      </a:endParaRPr>
                    </a:p>
                  </a:txBody>
                  <a:tcPr marL="66675" marR="66675" marT="66675" marB="6667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bl>
          </a:graphicData>
        </a:graphic>
      </p:graphicFrame>
      <p:sp>
        <p:nvSpPr>
          <p:cNvPr id="8" name="Text 5"/>
          <p:cNvSpPr/>
          <p:nvPr/>
        </p:nvSpPr>
        <p:spPr>
          <a:xfrm>
            <a:off x="812800" y="4441192"/>
            <a:ext cx="588645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Test na 20% najnowszych meczów, których model nie widział podczas uczenia.</a:t>
            </a:r>
            <a:endParaRPr lang="en-US" sz="1300" dirty="0"/>
          </a:p>
        </p:txBody>
      </p:sp>
      <p:sp>
        <p:nvSpPr>
          <p:cNvPr id="9" name="Shape 6"/>
          <p:cNvSpPr/>
          <p:nvPr/>
        </p:nvSpPr>
        <p:spPr>
          <a:xfrm>
            <a:off x="6784975" y="1864996"/>
            <a:ext cx="4591050" cy="2101850"/>
          </a:xfrm>
          <a:prstGeom prst="roundRect">
            <a:avLst>
              <a:gd name="adj" fmla="val 4683"/>
            </a:avLst>
          </a:prstGeom>
          <a:solidFill>
            <a:srgbClr val="FFFFFF"/>
          </a:solidFill>
          <a:ln w="6350">
            <a:solidFill>
              <a:srgbClr val="DDD8CE"/>
            </a:solidFill>
            <a:prstDash val="solid"/>
          </a:ln>
        </p:spPr>
      </p:sp>
      <p:sp>
        <p:nvSpPr>
          <p:cNvPr id="10" name="Text 7"/>
          <p:cNvSpPr/>
          <p:nvPr/>
        </p:nvSpPr>
        <p:spPr>
          <a:xfrm>
            <a:off x="7015480" y="2095500"/>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Cechy modelu</a:t>
            </a:r>
            <a:endParaRPr lang="en-US" sz="1600" dirty="0"/>
          </a:p>
        </p:txBody>
      </p:sp>
      <p:sp>
        <p:nvSpPr>
          <p:cNvPr id="11" name="Text 8"/>
          <p:cNvSpPr/>
          <p:nvPr/>
        </p:nvSpPr>
        <p:spPr>
          <a:xfrm>
            <a:off x="7113524" y="2415542"/>
            <a:ext cx="4148277" cy="1346200"/>
          </a:xfrm>
          <a:prstGeom prst="rect">
            <a:avLst/>
          </a:prstGeom>
          <a:noFill/>
          <a:ln/>
        </p:spPr>
        <p:txBody>
          <a:bodyPr wrap="square" lIns="0" tIns="0" rIns="0" bIns="0" rtlCol="0" anchor="t">
            <a:normAutofit/>
          </a:bodyPr>
          <a:lstStyle/>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różnica Elo ogólnego</a:t>
            </a:r>
            <a:endParaRPr lang="en-US" sz="1300" dirty="0"/>
          </a:p>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różnica Elo na danej nawierzchni</a:t>
            </a:r>
            <a:endParaRPr lang="en-US" sz="1300" dirty="0"/>
          </a:p>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różnica rankingu ATP</a:t>
            </a:r>
            <a:endParaRPr lang="en-US" sz="1300" dirty="0"/>
          </a:p>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różnica wzrostu</a:t>
            </a:r>
            <a:endParaRPr lang="en-US" sz="1300" dirty="0"/>
          </a:p>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rodzaj nawierzchni (kodowanie 0/1)</a:t>
            </a:r>
            <a:endParaRPr lang="en-US" sz="1300" dirty="0"/>
          </a:p>
        </p:txBody>
      </p:sp>
      <p:sp>
        <p:nvSpPr>
          <p:cNvPr id="12" name="Shape 9"/>
          <p:cNvSpPr/>
          <p:nvPr/>
        </p:nvSpPr>
        <p:spPr>
          <a:xfrm>
            <a:off x="6781800" y="4122421"/>
            <a:ext cx="4597400" cy="1446848"/>
          </a:xfrm>
          <a:prstGeom prst="roundRect">
            <a:avLst>
              <a:gd name="adj" fmla="val 7022"/>
            </a:avLst>
          </a:prstGeom>
          <a:solidFill>
            <a:srgbClr val="1C2B3A"/>
          </a:solidFill>
          <a:ln/>
        </p:spPr>
      </p:sp>
      <p:sp>
        <p:nvSpPr>
          <p:cNvPr id="13" name="Text 10"/>
          <p:cNvSpPr/>
          <p:nvPr/>
        </p:nvSpPr>
        <p:spPr>
          <a:xfrm>
            <a:off x="6985000" y="4325621"/>
            <a:ext cx="431673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Wniosek</a:t>
            </a:r>
            <a:endParaRPr lang="en-US" sz="1300" dirty="0"/>
          </a:p>
        </p:txBody>
      </p:sp>
      <p:sp>
        <p:nvSpPr>
          <p:cNvPr id="14" name="Text 11"/>
          <p:cNvSpPr/>
          <p:nvPr/>
        </p:nvSpPr>
        <p:spPr>
          <a:xfrm>
            <a:off x="6985000" y="4620264"/>
            <a:ext cx="4316730" cy="771208"/>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AF9F5"/>
                </a:solidFill>
                <a:latin typeface="Arial" pitchFamily="34" charset="0"/>
                <a:ea typeface="Arial" pitchFamily="34" charset="-122"/>
                <a:cs typeface="Arial" pitchFamily="34" charset="-120"/>
              </a:rPr>
              <a:t>Elo wypada minimalnie lepiej niż ranking ATP. Dodatkowe cechy nie poprawiają już wyniku, ponieważ Elo zawiera w sobie całą informację o sile zawodników.</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26139"/>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9C4221"/>
                </a:solidFill>
                <a:latin typeface="Arial" pitchFamily="34" charset="0"/>
                <a:ea typeface="Arial" pitchFamily="34" charset="-122"/>
                <a:cs typeface="Arial" pitchFamily="34" charset="-120"/>
              </a:rPr>
              <a:t>MODEL 2 · REGRESJA · REGRESJA LINIOWA</a:t>
            </a:r>
            <a:endParaRPr lang="en-US" sz="1159" dirty="0"/>
          </a:p>
        </p:txBody>
      </p:sp>
      <p:sp>
        <p:nvSpPr>
          <p:cNvPr id="3" name="Text 1"/>
          <p:cNvSpPr/>
          <p:nvPr>
            <p:ph type="title"/>
          </p:nvPr>
        </p:nvSpPr>
        <p:spPr>
          <a:xfrm>
            <a:off x="812800" y="1089738"/>
            <a:ext cx="10883392" cy="524907"/>
          </a:xfrm>
          <a:prstGeom prst="rect">
            <a:avLst/>
          </a:prstGeom>
          <a:noFill/>
          <a:ln/>
        </p:spPr>
        <p:txBody>
          <a:bodyPr wrap="square" lIns="0" tIns="0" rIns="0" bIns="0" rtlCol="0" anchor="t">
            <a:normAutofit/>
          </a:bodyPr>
          <a:lstStyle/>
          <a:p>
            <a:pPr algn="l" indent="0" marL="0">
              <a:lnSpc>
                <a:spcPts val="3971"/>
              </a:lnSpc>
              <a:buNone/>
            </a:pPr>
            <a:r>
              <a:rPr lang="en-US" sz="3610" b="0" i="0" dirty="0">
                <a:solidFill>
                  <a:srgbClr val="1C2B3A"/>
                </a:solidFill>
                <a:latin typeface="EB Garamond" pitchFamily="18" charset="0"/>
                <a:ea typeface="EB Garamond" pitchFamily="18" charset="-122"/>
                <a:cs typeface="EB Garamond" pitchFamily="18" charset="-120"/>
              </a:rPr>
              <a:t>Ile asów zrobi serwujący?</a:t>
            </a:r>
            <a:endParaRPr lang="en-US" sz="3610" dirty="0"/>
          </a:p>
        </p:txBody>
      </p:sp>
      <p:sp>
        <p:nvSpPr>
          <p:cNvPr id="4" name="Shape 2"/>
          <p:cNvSpPr/>
          <p:nvPr/>
        </p:nvSpPr>
        <p:spPr>
          <a:xfrm>
            <a:off x="812800" y="1861424"/>
            <a:ext cx="4572000" cy="3937000"/>
          </a:xfrm>
          <a:prstGeom prst="roundRect">
            <a:avLst>
              <a:gd name="adj" fmla="val 2581"/>
            </a:avLst>
          </a:prstGeom>
          <a:solidFill>
            <a:srgbClr val="FAF9F5"/>
          </a:solidFill>
          <a:ln/>
        </p:spPr>
      </p:sp>
      <p:pic>
        <p:nvPicPr>
          <p:cNvPr id="5" name="Image 0" descr="Wykres punktowy: przewidywane asy kontra rzeczywiste, z czerwoną linią idealnego trafienia; chmura punktów układa się wzdłuż linii z wyraźnym rozrzutem">    </p:cNvPr>
          <p:cNvPicPr>
            <a:picLocks noChangeAspect="1"/>
          </p:cNvPicPr>
          <p:nvPr/>
        </p:nvPicPr>
        <p:blipFill>
          <a:blip r:embed="rId1"/>
          <a:stretch>
            <a:fillRect/>
          </a:stretch>
        </p:blipFill>
        <p:spPr>
          <a:xfrm>
            <a:off x="1136650" y="1867774"/>
            <a:ext cx="3924300" cy="3924300"/>
          </a:xfrm>
          <a:prstGeom prst="rect">
            <a:avLst/>
          </a:prstGeom>
        </p:spPr>
      </p:pic>
      <p:sp>
        <p:nvSpPr>
          <p:cNvPr id="6" name="Shape 3"/>
          <p:cNvSpPr/>
          <p:nvPr/>
        </p:nvSpPr>
        <p:spPr>
          <a:xfrm>
            <a:off x="815975" y="1864599"/>
            <a:ext cx="4565650" cy="3930650"/>
          </a:xfrm>
          <a:prstGeom prst="roundRect">
            <a:avLst>
              <a:gd name="adj" fmla="val 2504"/>
            </a:avLst>
          </a:prstGeom>
          <a:noFill/>
          <a:ln w="6350">
            <a:solidFill>
              <a:srgbClr val="DDD8CE"/>
            </a:solidFill>
            <a:prstDash val="solid"/>
          </a:ln>
        </p:spPr>
      </p:sp>
      <p:sp>
        <p:nvSpPr>
          <p:cNvPr id="7" name="Text 4"/>
          <p:cNvSpPr/>
          <p:nvPr/>
        </p:nvSpPr>
        <p:spPr>
          <a:xfrm>
            <a:off x="5689600" y="1703784"/>
            <a:ext cx="586028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Inny typ odpowiedzi</a:t>
            </a:r>
            <a:endParaRPr lang="en-US" sz="1700" dirty="0"/>
          </a:p>
        </p:txBody>
      </p:sp>
      <p:sp>
        <p:nvSpPr>
          <p:cNvPr id="8" name="Text 5"/>
          <p:cNvSpPr/>
          <p:nvPr/>
        </p:nvSpPr>
        <p:spPr>
          <a:xfrm>
            <a:off x="5689600" y="2051763"/>
            <a:ext cx="5860288"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Klasyfikacja odpowiada na pytanie „kto wygra”, czyli tak albo nie. Regresja odpowiada na pytanie </a:t>
            </a:r>
            <a:r>
              <a:rPr lang="en-US" sz="1400" b="1" dirty="0">
                <a:solidFill>
                  <a:srgbClr val="4A5568"/>
                </a:solidFill>
                <a:latin typeface="Arial" pitchFamily="34" charset="0"/>
                <a:ea typeface="Arial" pitchFamily="34" charset="-122"/>
                <a:cs typeface="Arial" pitchFamily="34" charset="-120"/>
              </a:rPr>
              <a:t>„ile”</a:t>
            </a:r>
            <a:r>
              <a:rPr lang="en-US" sz="1400" dirty="0">
                <a:solidFill>
                  <a:srgbClr val="4A5568"/>
                </a:solidFill>
                <a:latin typeface="Arial" pitchFamily="34" charset="0"/>
                <a:ea typeface="Arial" pitchFamily="34" charset="-122"/>
                <a:cs typeface="Arial" pitchFamily="34" charset="-120"/>
              </a:rPr>
              <a:t> i zwraca liczbę. Z jednego meczu robimy dwa wiersze, bo raz serwuje zwycięzca, a raz przegrany.</a:t>
            </a:r>
            <a:endParaRPr lang="en-US" sz="1400" dirty="0"/>
          </a:p>
        </p:txBody>
      </p:sp>
      <p:sp>
        <p:nvSpPr>
          <p:cNvPr id="9" name="Shape 6"/>
          <p:cNvSpPr/>
          <p:nvPr/>
        </p:nvSpPr>
        <p:spPr>
          <a:xfrm>
            <a:off x="5692775" y="3020138"/>
            <a:ext cx="5683250" cy="1308100"/>
          </a:xfrm>
          <a:prstGeom prst="roundRect">
            <a:avLst>
              <a:gd name="adj" fmla="val 7524"/>
            </a:avLst>
          </a:prstGeom>
          <a:solidFill>
            <a:srgbClr val="FAF9F5"/>
          </a:solidFill>
          <a:ln w="6350">
            <a:solidFill>
              <a:srgbClr val="DDD8CE"/>
            </a:solidFill>
            <a:prstDash val="solid"/>
          </a:ln>
        </p:spPr>
      </p:sp>
      <p:sp>
        <p:nvSpPr>
          <p:cNvPr id="10" name="Text 7"/>
          <p:cNvSpPr/>
          <p:nvPr/>
        </p:nvSpPr>
        <p:spPr>
          <a:xfrm>
            <a:off x="5923280" y="3250648"/>
            <a:ext cx="53789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Cechy</a:t>
            </a:r>
            <a:endParaRPr lang="en-US" sz="1600" dirty="0"/>
          </a:p>
        </p:txBody>
      </p:sp>
      <p:sp>
        <p:nvSpPr>
          <p:cNvPr id="11" name="Text 8"/>
          <p:cNvSpPr/>
          <p:nvPr/>
        </p:nvSpPr>
        <p:spPr>
          <a:xfrm>
            <a:off x="5923280" y="3583384"/>
            <a:ext cx="5378907" cy="53975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4A5568"/>
                </a:solidFill>
                <a:latin typeface="Arial" pitchFamily="34" charset="0"/>
                <a:ea typeface="Arial" pitchFamily="34" charset="-122"/>
                <a:cs typeface="Arial" pitchFamily="34" charset="-120"/>
              </a:rPr>
              <a:t>historia serwisu zawodnika · podatność przeciwnika na asy · wzrost obu · ręka przeciwnika · jego ranking · nawierzchnia</a:t>
            </a:r>
            <a:endParaRPr lang="en-US" sz="1350" dirty="0"/>
          </a:p>
        </p:txBody>
      </p:sp>
      <p:sp>
        <p:nvSpPr>
          <p:cNvPr id="12" name="Shape 9"/>
          <p:cNvSpPr/>
          <p:nvPr/>
        </p:nvSpPr>
        <p:spPr>
          <a:xfrm>
            <a:off x="5689600" y="4496513"/>
            <a:ext cx="5689600" cy="1459548"/>
          </a:xfrm>
          <a:prstGeom prst="roundRect">
            <a:avLst>
              <a:gd name="adj" fmla="val 6961"/>
            </a:avLst>
          </a:prstGeom>
          <a:solidFill>
            <a:srgbClr val="1C2B3A"/>
          </a:solidFill>
          <a:ln/>
        </p:spPr>
      </p:sp>
      <p:sp>
        <p:nvSpPr>
          <p:cNvPr id="13" name="Text 10"/>
          <p:cNvSpPr/>
          <p:nvPr/>
        </p:nvSpPr>
        <p:spPr>
          <a:xfrm>
            <a:off x="5892800" y="4699713"/>
            <a:ext cx="544169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Zabezpieczenie</a:t>
            </a:r>
            <a:endParaRPr lang="en-US" sz="1300" dirty="0"/>
          </a:p>
        </p:txBody>
      </p:sp>
      <p:sp>
        <p:nvSpPr>
          <p:cNvPr id="14" name="Text 11"/>
          <p:cNvSpPr/>
          <p:nvPr/>
        </p:nvSpPr>
        <p:spPr>
          <a:xfrm>
            <a:off x="5892800" y="5007056"/>
            <a:ext cx="5441696" cy="771208"/>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AF9F5"/>
                </a:solidFill>
                <a:latin typeface="Arial" pitchFamily="34" charset="0"/>
                <a:ea typeface="Arial" pitchFamily="34" charset="-122"/>
                <a:cs typeface="Arial" pitchFamily="34" charset="-120"/>
              </a:rPr>
              <a:t>Średnie historyczne liczymy </a:t>
            </a:r>
            <a:r>
              <a:rPr lang="en-US" sz="1350" b="1" dirty="0">
                <a:solidFill>
                  <a:srgbClr val="FAF9F5"/>
                </a:solidFill>
                <a:latin typeface="Arial" pitchFamily="34" charset="0"/>
                <a:ea typeface="Arial" pitchFamily="34" charset="-122"/>
                <a:cs typeface="Arial" pitchFamily="34" charset="-120"/>
              </a:rPr>
              <a:t>wyłącznie z okresu uczenia</a:t>
            </a:r>
            <a:r>
              <a:rPr lang="en-US" sz="1350" dirty="0">
                <a:solidFill>
                  <a:srgbClr val="FAF9F5"/>
                </a:solidFill>
                <a:latin typeface="Arial" pitchFamily="34" charset="0"/>
                <a:ea typeface="Arial" pitchFamily="34" charset="-122"/>
                <a:cs typeface="Arial" pitchFamily="34" charset="-120"/>
              </a:rPr>
              <a:t>. Policzone z całości zawierałyby mecze ze zbioru testowego, a model znałby przyszłość.</a:t>
            </a:r>
            <a:endParaRPr lang="en-US" sz="1350" dirty="0"/>
          </a:p>
        </p:txBody>
      </p:sp>
      <p:sp>
        <p:nvSpPr>
          <p:cNvPr id="15" name="Text 12"/>
          <p:cNvSpPr/>
          <p:nvPr/>
        </p:nvSpPr>
        <p:spPr>
          <a:xfrm>
            <a:off x="812800" y="6238242"/>
            <a:ext cx="64716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Czerwona linia oznacza idealne trafienie. Im bliżej niej punkty, tym lepszy model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15583"/>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9C4221"/>
                </a:solidFill>
                <a:latin typeface="Arial" pitchFamily="34" charset="0"/>
                <a:ea typeface="Arial" pitchFamily="34" charset="-122"/>
                <a:cs typeface="Arial" pitchFamily="34" charset="-120"/>
              </a:rPr>
              <a:t>MODEL 3 · UCZENIE NIENADZOROWANE · KMEANS</a:t>
            </a:r>
            <a:endParaRPr lang="en-US" sz="1088" dirty="0"/>
          </a:p>
        </p:txBody>
      </p:sp>
      <p:sp>
        <p:nvSpPr>
          <p:cNvPr id="3" name="Text 1"/>
          <p:cNvSpPr/>
          <p:nvPr>
            <p:ph type="title"/>
          </p:nvPr>
        </p:nvSpPr>
        <p:spPr>
          <a:xfrm>
            <a:off x="812800" y="1079184"/>
            <a:ext cx="10883392" cy="498713"/>
          </a:xfrm>
          <a:prstGeom prst="rect">
            <a:avLst/>
          </a:prstGeom>
          <a:noFill/>
          <a:ln/>
        </p:spPr>
        <p:txBody>
          <a:bodyPr wrap="square" lIns="0" tIns="0" rIns="0" bIns="0" rtlCol="0" anchor="t">
            <a:normAutofit/>
          </a:bodyPr>
          <a:lstStyle/>
          <a:p>
            <a:pPr algn="l" indent="0" marL="0">
              <a:lnSpc>
                <a:spcPts val="3762"/>
              </a:lnSpc>
              <a:buNone/>
            </a:pPr>
            <a:r>
              <a:rPr lang="en-US" sz="3420" b="0" i="0" dirty="0">
                <a:solidFill>
                  <a:srgbClr val="1C2B3A"/>
                </a:solidFill>
                <a:latin typeface="EB Garamond" pitchFamily="18" charset="0"/>
                <a:ea typeface="EB Garamond" pitchFamily="18" charset="-122"/>
                <a:cs typeface="EB Garamond" pitchFamily="18" charset="-120"/>
              </a:rPr>
              <a:t>Style gry wykryte przez algorytm</a:t>
            </a:r>
            <a:endParaRPr lang="en-US" sz="3420" dirty="0"/>
          </a:p>
        </p:txBody>
      </p:sp>
      <p:sp>
        <p:nvSpPr>
          <p:cNvPr id="4" name="Shape 2"/>
          <p:cNvSpPr/>
          <p:nvPr/>
        </p:nvSpPr>
        <p:spPr>
          <a:xfrm>
            <a:off x="812800" y="1957307"/>
            <a:ext cx="6223000" cy="3683000"/>
          </a:xfrm>
          <a:prstGeom prst="roundRect">
            <a:avLst>
              <a:gd name="adj" fmla="val 2759"/>
            </a:avLst>
          </a:prstGeom>
          <a:solidFill>
            <a:srgbClr val="FFFFFF"/>
          </a:solidFill>
          <a:ln/>
        </p:spPr>
      </p:sp>
      <p:pic>
        <p:nvPicPr>
          <p:cNvPr id="5" name="Image 0" descr="Wykres punktowy: zawodnicy rozmieszczeni według asów serwisowych i asów traconych, pokolorowani na cztery grupy wykryte przez algorytm">    </p:cNvPr>
          <p:cNvPicPr>
            <a:picLocks noChangeAspect="1"/>
          </p:cNvPicPr>
          <p:nvPr/>
        </p:nvPicPr>
        <p:blipFill>
          <a:blip r:embed="rId1"/>
          <a:stretch>
            <a:fillRect/>
          </a:stretch>
        </p:blipFill>
        <p:spPr>
          <a:xfrm>
            <a:off x="1302657" y="1963657"/>
            <a:ext cx="5243286" cy="3670300"/>
          </a:xfrm>
          <a:prstGeom prst="rect">
            <a:avLst/>
          </a:prstGeom>
        </p:spPr>
      </p:pic>
      <p:sp>
        <p:nvSpPr>
          <p:cNvPr id="6" name="Shape 3"/>
          <p:cNvSpPr/>
          <p:nvPr/>
        </p:nvSpPr>
        <p:spPr>
          <a:xfrm>
            <a:off x="815975" y="1960482"/>
            <a:ext cx="6216650" cy="3676650"/>
          </a:xfrm>
          <a:prstGeom prst="roundRect">
            <a:avLst>
              <a:gd name="adj" fmla="val 2677"/>
            </a:avLst>
          </a:prstGeom>
          <a:noFill/>
          <a:ln w="6350">
            <a:solidFill>
              <a:srgbClr val="DDD8CE"/>
            </a:solidFill>
            <a:prstDash val="solid"/>
          </a:ln>
        </p:spPr>
      </p:sp>
      <p:sp>
        <p:nvSpPr>
          <p:cNvPr id="7" name="Text 4"/>
          <p:cNvSpPr/>
          <p:nvPr/>
        </p:nvSpPr>
        <p:spPr>
          <a:xfrm>
            <a:off x="7340600" y="1532892"/>
            <a:ext cx="4159758" cy="1130300"/>
          </a:xfrm>
          <a:prstGeom prst="rect">
            <a:avLst/>
          </a:prstGeom>
          <a:noFill/>
          <a:ln/>
        </p:spPr>
        <p:txBody>
          <a:bodyPr wrap="square" lIns="0" tIns="0" rIns="0" bIns="0" rtlCol="0" anchor="t">
            <a:normAutofit/>
          </a:bodyPr>
          <a:lstStyle/>
          <a:p>
            <a:pPr algn="l" indent="0" marL="0">
              <a:lnSpc>
                <a:spcPts val="2175"/>
              </a:lnSpc>
              <a:buNone/>
            </a:pPr>
            <a:r>
              <a:rPr lang="en-US" sz="1450" dirty="0">
                <a:solidFill>
                  <a:srgbClr val="4A5568"/>
                </a:solidFill>
                <a:latin typeface="Arial" pitchFamily="34" charset="0"/>
                <a:ea typeface="Arial" pitchFamily="34" charset="-122"/>
                <a:cs typeface="Arial" pitchFamily="34" charset="-120"/>
              </a:rPr>
              <a:t>Algorytm nie dostaje </a:t>
            </a:r>
            <a:r>
              <a:rPr lang="en-US" sz="1450" b="1" dirty="0">
                <a:solidFill>
                  <a:srgbClr val="4A5568"/>
                </a:solidFill>
                <a:latin typeface="Arial" pitchFamily="34" charset="0"/>
                <a:ea typeface="Arial" pitchFamily="34" charset="-122"/>
                <a:cs typeface="Arial" pitchFamily="34" charset="-120"/>
              </a:rPr>
              <a:t>żadnych etykiet</a:t>
            </a:r>
            <a:r>
              <a:rPr lang="en-US" sz="1450" dirty="0">
                <a:solidFill>
                  <a:srgbClr val="4A5568"/>
                </a:solidFill>
                <a:latin typeface="Arial" pitchFamily="34" charset="0"/>
                <a:ea typeface="Arial" pitchFamily="34" charset="-122"/>
                <a:cs typeface="Arial" pitchFamily="34" charset="-120"/>
              </a:rPr>
              <a:t>. Sam dzieli 210 zawodników na grupy, porównując cztery cechy: asy, podwójne błędy, procent pierwszego serwisu i asy tracone przy returnie.</a:t>
            </a:r>
            <a:endParaRPr lang="en-US" sz="1450" dirty="0"/>
          </a:p>
        </p:txBody>
      </p:sp>
      <p:sp>
        <p:nvSpPr>
          <p:cNvPr id="8" name="Shape 5"/>
          <p:cNvSpPr/>
          <p:nvPr/>
        </p:nvSpPr>
        <p:spPr>
          <a:xfrm>
            <a:off x="7343775" y="2780667"/>
            <a:ext cx="4032250" cy="1433195"/>
          </a:xfrm>
          <a:prstGeom prst="roundRect">
            <a:avLst>
              <a:gd name="adj" fmla="val 6868"/>
            </a:avLst>
          </a:prstGeom>
          <a:solidFill>
            <a:srgbClr val="FFFFFF"/>
          </a:solidFill>
          <a:ln w="6350">
            <a:solidFill>
              <a:srgbClr val="DDD8CE"/>
            </a:solidFill>
            <a:prstDash val="solid"/>
          </a:ln>
        </p:spPr>
      </p:sp>
      <p:sp>
        <p:nvSpPr>
          <p:cNvPr id="9" name="Text 6"/>
          <p:cNvSpPr/>
          <p:nvPr/>
        </p:nvSpPr>
        <p:spPr>
          <a:xfrm>
            <a:off x="7548880" y="2985771"/>
            <a:ext cx="373070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Skalowanie przed analizą</a:t>
            </a:r>
            <a:endParaRPr lang="en-US" sz="1500" dirty="0"/>
          </a:p>
        </p:txBody>
      </p:sp>
      <p:sp>
        <p:nvSpPr>
          <p:cNvPr id="10" name="Text 7"/>
          <p:cNvSpPr/>
          <p:nvPr/>
        </p:nvSpPr>
        <p:spPr>
          <a:xfrm>
            <a:off x="7548880" y="3290571"/>
            <a:ext cx="373070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Asy mają wartości rzędu 10, a procent pierwszego serwisu rzędu 62. Bez skalowania algorytm patrzyłby wyłącznie na większe liczby.</a:t>
            </a:r>
            <a:endParaRPr lang="en-US" sz="1300" dirty="0"/>
          </a:p>
        </p:txBody>
      </p:sp>
      <p:sp>
        <p:nvSpPr>
          <p:cNvPr id="11" name="Shape 8"/>
          <p:cNvSpPr/>
          <p:nvPr/>
        </p:nvSpPr>
        <p:spPr>
          <a:xfrm>
            <a:off x="7340600" y="4356739"/>
            <a:ext cx="4038600" cy="1708150"/>
          </a:xfrm>
          <a:prstGeom prst="roundRect">
            <a:avLst>
              <a:gd name="adj" fmla="val 5948"/>
            </a:avLst>
          </a:prstGeom>
          <a:solidFill>
            <a:srgbClr val="1C2B3A"/>
          </a:solidFill>
          <a:ln/>
        </p:spPr>
      </p:sp>
      <p:sp>
        <p:nvSpPr>
          <p:cNvPr id="12" name="Text 9"/>
          <p:cNvSpPr/>
          <p:nvPr/>
        </p:nvSpPr>
        <p:spPr>
          <a:xfrm>
            <a:off x="7543800" y="4559939"/>
            <a:ext cx="374116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Nazwy nadaliśmy my</a:t>
            </a:r>
            <a:endParaRPr lang="en-US" sz="1300" dirty="0"/>
          </a:p>
        </p:txBody>
      </p:sp>
      <p:sp>
        <p:nvSpPr>
          <p:cNvPr id="13" name="Text 10"/>
          <p:cNvSpPr/>
          <p:nvPr/>
        </p:nvSpPr>
        <p:spPr>
          <a:xfrm>
            <a:off x="7543800" y="4867275"/>
            <a:ext cx="3741166" cy="1019810"/>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AF9F5"/>
                </a:solidFill>
                <a:latin typeface="Arial" pitchFamily="34" charset="0"/>
                <a:ea typeface="Arial" pitchFamily="34" charset="-122"/>
                <a:cs typeface="Arial" pitchFamily="34" charset="-120"/>
              </a:rPr>
              <a:t>Algorytm zwraca wyłącznie numery grup. Etykiety przypisujemy automatycznie, badając położenie środka grupy wobec średniej na osi serwisu i returnu.</a:t>
            </a:r>
            <a:endParaRPr lang="en-US" sz="1350" dirty="0"/>
          </a:p>
        </p:txBody>
      </p:sp>
      <p:sp>
        <p:nvSpPr>
          <p:cNvPr id="14" name="Text 11"/>
          <p:cNvSpPr/>
          <p:nvPr/>
        </p:nvSpPr>
        <p:spPr>
          <a:xfrm>
            <a:off x="812800" y="6238242"/>
            <a:ext cx="76541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Serwisanci: Isner 23,8 · Raonic 22,6 · Opelka 21,3 asa na 100 punktów · minimum 30 meczów</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Metoda łokcia: ile grup wybrać</a:t>
            </a:r>
            <a:endParaRPr lang="en-US" sz="3800" dirty="0"/>
          </a:p>
        </p:txBody>
      </p:sp>
      <p:sp>
        <p:nvSpPr>
          <p:cNvPr id="3" name="Shape 1"/>
          <p:cNvSpPr/>
          <p:nvPr/>
        </p:nvSpPr>
        <p:spPr>
          <a:xfrm>
            <a:off x="812800" y="1903729"/>
            <a:ext cx="5715000" cy="3556000"/>
          </a:xfrm>
          <a:prstGeom prst="roundRect">
            <a:avLst>
              <a:gd name="adj" fmla="val 2857"/>
            </a:avLst>
          </a:prstGeom>
          <a:solidFill>
            <a:srgbClr val="FAF9F5"/>
          </a:solidFill>
          <a:ln/>
        </p:spPr>
      </p:sp>
      <p:pic>
        <p:nvPicPr>
          <p:cNvPr id="4" name="Image 0" descr="Wykres liniowy: suma odległości wewnątrz grup maleje wraz z liczbą grup od 2 do 8, z wyraźnym zgięciem krzywej">    </p:cNvPr>
          <p:cNvPicPr>
            <a:picLocks noChangeAspect="1"/>
          </p:cNvPicPr>
          <p:nvPr/>
        </p:nvPicPr>
        <p:blipFill>
          <a:blip r:embed="rId1"/>
          <a:srcRect l="-291" r="-291" t="0" b="0"/>
          <a:stretch/>
        </p:blipFill>
        <p:spPr>
          <a:xfrm>
            <a:off x="819150" y="1910079"/>
            <a:ext cx="5702300" cy="3543300"/>
          </a:xfrm>
          <a:prstGeom prst="roundRect">
            <a:avLst>
              <a:gd name="adj" fmla="val 2688"/>
            </a:avLst>
          </a:prstGeom>
        </p:spPr>
      </p:pic>
      <p:sp>
        <p:nvSpPr>
          <p:cNvPr id="5" name="Shape 2"/>
          <p:cNvSpPr/>
          <p:nvPr/>
        </p:nvSpPr>
        <p:spPr>
          <a:xfrm>
            <a:off x="815975" y="1906904"/>
            <a:ext cx="5708650" cy="3549650"/>
          </a:xfrm>
          <a:prstGeom prst="roundRect">
            <a:avLst>
              <a:gd name="adj" fmla="val 2773"/>
            </a:avLst>
          </a:prstGeom>
          <a:noFill/>
          <a:ln w="6350">
            <a:solidFill>
              <a:srgbClr val="DDD8CE"/>
            </a:solidFill>
            <a:prstDash val="solid"/>
          </a:ln>
        </p:spPr>
      </p:sp>
      <p:sp>
        <p:nvSpPr>
          <p:cNvPr id="6" name="Text 3"/>
          <p:cNvSpPr/>
          <p:nvPr/>
        </p:nvSpPr>
        <p:spPr>
          <a:xfrm>
            <a:off x="6883400" y="1597664"/>
            <a:ext cx="463067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Problem</a:t>
            </a:r>
            <a:endParaRPr lang="en-US" sz="1700" dirty="0"/>
          </a:p>
        </p:txBody>
      </p:sp>
      <p:sp>
        <p:nvSpPr>
          <p:cNvPr id="7" name="Text 4"/>
          <p:cNvSpPr/>
          <p:nvPr/>
        </p:nvSpPr>
        <p:spPr>
          <a:xfrm>
            <a:off x="6883400" y="1945642"/>
            <a:ext cx="4630674"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Suma odległości wewnątrz grup </a:t>
            </a:r>
            <a:r>
              <a:rPr lang="en-US" sz="1400" b="1" dirty="0">
                <a:solidFill>
                  <a:srgbClr val="4A5568"/>
                </a:solidFill>
                <a:latin typeface="Arial" pitchFamily="34" charset="0"/>
                <a:ea typeface="Arial" pitchFamily="34" charset="-122"/>
                <a:cs typeface="Arial" pitchFamily="34" charset="-120"/>
              </a:rPr>
              <a:t>zawsze</a:t>
            </a:r>
            <a:r>
              <a:rPr lang="en-US" sz="1400" dirty="0">
                <a:solidFill>
                  <a:srgbClr val="4A5568"/>
                </a:solidFill>
                <a:latin typeface="Arial" pitchFamily="34" charset="0"/>
                <a:ea typeface="Arial" pitchFamily="34" charset="-122"/>
                <a:cs typeface="Arial" pitchFamily="34" charset="-120"/>
              </a:rPr>
              <a:t> maleje, gdy dodajemy grupy. Przy liczbie grup równej liczbie zawodników spadłaby do zera, bo każdy byłby sam. Idealny wynik o zerowej wartości poznawczej.</a:t>
            </a:r>
            <a:endParaRPr lang="en-US" sz="1400" dirty="0"/>
          </a:p>
        </p:txBody>
      </p:sp>
      <p:sp>
        <p:nvSpPr>
          <p:cNvPr id="8" name="Text 5"/>
          <p:cNvSpPr/>
          <p:nvPr/>
        </p:nvSpPr>
        <p:spPr>
          <a:xfrm>
            <a:off x="6883400" y="3177542"/>
            <a:ext cx="463067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Rozwiązanie</a:t>
            </a:r>
            <a:endParaRPr lang="en-US" sz="1700" dirty="0"/>
          </a:p>
        </p:txBody>
      </p:sp>
      <p:sp>
        <p:nvSpPr>
          <p:cNvPr id="9" name="Text 6"/>
          <p:cNvSpPr/>
          <p:nvPr/>
        </p:nvSpPr>
        <p:spPr>
          <a:xfrm>
            <a:off x="6883400" y="3525521"/>
            <a:ext cx="4630674"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Patrzymy na </a:t>
            </a:r>
            <a:r>
              <a:rPr lang="en-US" sz="1400" b="1" dirty="0">
                <a:solidFill>
                  <a:srgbClr val="4A5568"/>
                </a:solidFill>
                <a:latin typeface="Arial" pitchFamily="34" charset="0"/>
                <a:ea typeface="Arial" pitchFamily="34" charset="-122"/>
                <a:cs typeface="Arial" pitchFamily="34" charset="-120"/>
              </a:rPr>
              <a:t>kształt</a:t>
            </a:r>
            <a:r>
              <a:rPr lang="en-US" sz="1400" dirty="0">
                <a:solidFill>
                  <a:srgbClr val="4A5568"/>
                </a:solidFill>
                <a:latin typeface="Arial" pitchFamily="34" charset="0"/>
                <a:ea typeface="Arial" pitchFamily="34" charset="-122"/>
                <a:cs typeface="Arial" pitchFamily="34" charset="-120"/>
              </a:rPr>
              <a:t> krzywej, nie na wartość. Spadek stromy oznacza, że nowa grupa realnie rozdziela różnych zawodników. Wypłaszczenie oznacza, że tylko kroi spójne skupiska.</a:t>
            </a:r>
            <a:endParaRPr lang="en-US" sz="1400" dirty="0"/>
          </a:p>
        </p:txBody>
      </p:sp>
      <p:sp>
        <p:nvSpPr>
          <p:cNvPr id="10" name="Shape 7"/>
          <p:cNvSpPr/>
          <p:nvPr/>
        </p:nvSpPr>
        <p:spPr>
          <a:xfrm>
            <a:off x="6883400" y="4757421"/>
            <a:ext cx="4495800" cy="1008380"/>
          </a:xfrm>
          <a:prstGeom prst="roundRect">
            <a:avLst>
              <a:gd name="adj" fmla="val 10076"/>
            </a:avLst>
          </a:prstGeom>
          <a:solidFill>
            <a:srgbClr val="1C2B3A"/>
          </a:solidFill>
          <a:ln/>
        </p:spPr>
      </p:sp>
      <p:sp>
        <p:nvSpPr>
          <p:cNvPr id="11" name="Text 8"/>
          <p:cNvSpPr/>
          <p:nvPr/>
        </p:nvSpPr>
        <p:spPr>
          <a:xfrm>
            <a:off x="7086600" y="4960621"/>
            <a:ext cx="421208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Nasz wybór</a:t>
            </a:r>
            <a:endParaRPr lang="en-US" sz="1300" dirty="0"/>
          </a:p>
        </p:txBody>
      </p:sp>
      <p:sp>
        <p:nvSpPr>
          <p:cNvPr id="12" name="Text 9"/>
          <p:cNvSpPr/>
          <p:nvPr/>
        </p:nvSpPr>
        <p:spPr>
          <a:xfrm>
            <a:off x="7086600" y="5255264"/>
            <a:ext cx="4212082"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AF9F5"/>
                </a:solidFill>
                <a:latin typeface="Arial" pitchFamily="34" charset="0"/>
                <a:ea typeface="Arial" pitchFamily="34" charset="-122"/>
                <a:cs typeface="Arial" pitchFamily="34" charset="-120"/>
              </a:rPr>
              <a:t>k = 4 grupy</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ETAP 5 · PRODUKT KOŃCOWY</a:t>
            </a:r>
            <a:endParaRPr lang="en-US" sz="1200" dirty="0"/>
          </a:p>
        </p:txBody>
      </p:sp>
      <p:sp>
        <p:nvSpPr>
          <p:cNvPr id="3" name="Text 1"/>
          <p:cNvSpPr/>
          <p:nvPr>
            <p:ph type="title"/>
          </p:nvPr>
        </p:nvSpPr>
        <p:spPr>
          <a:xfrm>
            <a:off x="812800" y="1102364"/>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Aplikacja webowa</a:t>
            </a:r>
            <a:endParaRPr lang="en-US" sz="3800" dirty="0"/>
          </a:p>
        </p:txBody>
      </p:sp>
      <p:sp>
        <p:nvSpPr>
          <p:cNvPr id="4" name="Text 2"/>
          <p:cNvSpPr/>
          <p:nvPr/>
        </p:nvSpPr>
        <p:spPr>
          <a:xfrm>
            <a:off x="812800" y="1887227"/>
            <a:ext cx="981075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4A5568"/>
                </a:solidFill>
                <a:latin typeface="Arial" pitchFamily="34" charset="0"/>
                <a:ea typeface="Arial" pitchFamily="34" charset="-122"/>
                <a:cs typeface="Arial" pitchFamily="34" charset="-120"/>
              </a:rPr>
              <a:t>Interfejs w Streamlit wczytuje wytrenowane modele i rankingi. Użytkownik wybiera dwóch zawodników i nawierzchnię, a aplikacja pokazuje prognozę oraz pełny kontekst statystyczny.</a:t>
            </a:r>
            <a:endParaRPr lang="en-US" sz="1600" dirty="0"/>
          </a:p>
        </p:txBody>
      </p:sp>
      <p:sp>
        <p:nvSpPr>
          <p:cNvPr id="5" name="Shape 3"/>
          <p:cNvSpPr/>
          <p:nvPr/>
        </p:nvSpPr>
        <p:spPr>
          <a:xfrm>
            <a:off x="815975" y="2754002"/>
            <a:ext cx="2501900" cy="1430973"/>
          </a:xfrm>
          <a:prstGeom prst="roundRect">
            <a:avLst>
              <a:gd name="adj" fmla="val 6878"/>
            </a:avLst>
          </a:prstGeom>
          <a:solidFill>
            <a:srgbClr val="FFFFFF"/>
          </a:solidFill>
          <a:ln w="6350">
            <a:solidFill>
              <a:srgbClr val="DDD8CE"/>
            </a:solidFill>
            <a:prstDash val="solid"/>
          </a:ln>
        </p:spPr>
      </p:sp>
      <p:sp>
        <p:nvSpPr>
          <p:cNvPr id="6" name="Text 4"/>
          <p:cNvSpPr/>
          <p:nvPr/>
        </p:nvSpPr>
        <p:spPr>
          <a:xfrm>
            <a:off x="1033780" y="2971800"/>
            <a:ext cx="21282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Prognoza</a:t>
            </a:r>
            <a:endParaRPr lang="en-US" sz="1500" dirty="0"/>
          </a:p>
        </p:txBody>
      </p:sp>
      <p:sp>
        <p:nvSpPr>
          <p:cNvPr id="7" name="Text 5"/>
          <p:cNvSpPr/>
          <p:nvPr/>
        </p:nvSpPr>
        <p:spPr>
          <a:xfrm>
            <a:off x="1033780" y="3276600"/>
            <a:ext cx="2128279"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szansa na wygraną z modelu, zestawiona z wynikiem samego wzoru Elo</a:t>
            </a:r>
            <a:endParaRPr lang="en-US" sz="1250" dirty="0"/>
          </a:p>
        </p:txBody>
      </p:sp>
      <p:sp>
        <p:nvSpPr>
          <p:cNvPr id="8" name="Shape 6"/>
          <p:cNvSpPr/>
          <p:nvPr/>
        </p:nvSpPr>
        <p:spPr>
          <a:xfrm>
            <a:off x="3502025" y="2754002"/>
            <a:ext cx="2501900" cy="1430973"/>
          </a:xfrm>
          <a:prstGeom prst="roundRect">
            <a:avLst>
              <a:gd name="adj" fmla="val 6878"/>
            </a:avLst>
          </a:prstGeom>
          <a:solidFill>
            <a:srgbClr val="FFFFFF"/>
          </a:solidFill>
          <a:ln w="6350">
            <a:solidFill>
              <a:srgbClr val="DDD8CE"/>
            </a:solidFill>
            <a:prstDash val="solid"/>
          </a:ln>
        </p:spPr>
      </p:sp>
      <p:sp>
        <p:nvSpPr>
          <p:cNvPr id="9" name="Text 7"/>
          <p:cNvSpPr/>
          <p:nvPr/>
        </p:nvSpPr>
        <p:spPr>
          <a:xfrm>
            <a:off x="3719830" y="2971800"/>
            <a:ext cx="21282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Profil zawodnika</a:t>
            </a:r>
            <a:endParaRPr lang="en-US" sz="1500" dirty="0"/>
          </a:p>
        </p:txBody>
      </p:sp>
      <p:sp>
        <p:nvSpPr>
          <p:cNvPr id="10" name="Text 8"/>
          <p:cNvSpPr/>
          <p:nvPr/>
        </p:nvSpPr>
        <p:spPr>
          <a:xfrm>
            <a:off x="3719830" y="3276600"/>
            <a:ext cx="2128279"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statystyki ogółem i osobno dla każdej nawierzchni</a:t>
            </a:r>
            <a:endParaRPr lang="en-US" sz="1250" dirty="0"/>
          </a:p>
        </p:txBody>
      </p:sp>
      <p:sp>
        <p:nvSpPr>
          <p:cNvPr id="11" name="Shape 9"/>
          <p:cNvSpPr/>
          <p:nvPr/>
        </p:nvSpPr>
        <p:spPr>
          <a:xfrm>
            <a:off x="6188075" y="2754002"/>
            <a:ext cx="2501900" cy="1430973"/>
          </a:xfrm>
          <a:prstGeom prst="roundRect">
            <a:avLst>
              <a:gd name="adj" fmla="val 6878"/>
            </a:avLst>
          </a:prstGeom>
          <a:solidFill>
            <a:srgbClr val="FFFFFF"/>
          </a:solidFill>
          <a:ln w="6350">
            <a:solidFill>
              <a:srgbClr val="DDD8CE"/>
            </a:solidFill>
            <a:prstDash val="solid"/>
          </a:ln>
        </p:spPr>
      </p:sp>
      <p:sp>
        <p:nvSpPr>
          <p:cNvPr id="12" name="Text 10"/>
          <p:cNvSpPr/>
          <p:nvPr/>
        </p:nvSpPr>
        <p:spPr>
          <a:xfrm>
            <a:off x="6405880" y="2971800"/>
            <a:ext cx="21282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Bezpośrednie mecze</a:t>
            </a:r>
            <a:endParaRPr lang="en-US" sz="1500" dirty="0"/>
          </a:p>
        </p:txBody>
      </p:sp>
      <p:sp>
        <p:nvSpPr>
          <p:cNvPr id="13" name="Text 11"/>
          <p:cNvSpPr/>
          <p:nvPr/>
        </p:nvSpPr>
        <p:spPr>
          <a:xfrm>
            <a:off x="6405880" y="3276600"/>
            <a:ext cx="2128279"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bilans i porównanie formy przeciwko temu rywalowi z resztą sezonu</a:t>
            </a:r>
            <a:endParaRPr lang="en-US" sz="1250" dirty="0"/>
          </a:p>
        </p:txBody>
      </p:sp>
      <p:sp>
        <p:nvSpPr>
          <p:cNvPr id="14" name="Shape 12"/>
          <p:cNvSpPr/>
          <p:nvPr/>
        </p:nvSpPr>
        <p:spPr>
          <a:xfrm>
            <a:off x="8874125" y="2754002"/>
            <a:ext cx="2501900" cy="1430973"/>
          </a:xfrm>
          <a:prstGeom prst="roundRect">
            <a:avLst>
              <a:gd name="adj" fmla="val 6878"/>
            </a:avLst>
          </a:prstGeom>
          <a:solidFill>
            <a:srgbClr val="FFFFFF"/>
          </a:solidFill>
          <a:ln w="6350">
            <a:solidFill>
              <a:srgbClr val="DDD8CE"/>
            </a:solidFill>
            <a:prstDash val="solid"/>
          </a:ln>
        </p:spPr>
      </p:sp>
      <p:sp>
        <p:nvSpPr>
          <p:cNvPr id="15" name="Text 13"/>
          <p:cNvSpPr/>
          <p:nvPr/>
        </p:nvSpPr>
        <p:spPr>
          <a:xfrm>
            <a:off x="9091930" y="2971800"/>
            <a:ext cx="21282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Style gry</a:t>
            </a:r>
            <a:endParaRPr lang="en-US" sz="1500" dirty="0"/>
          </a:p>
        </p:txBody>
      </p:sp>
      <p:sp>
        <p:nvSpPr>
          <p:cNvPr id="16" name="Text 14"/>
          <p:cNvSpPr/>
          <p:nvPr/>
        </p:nvSpPr>
        <p:spPr>
          <a:xfrm>
            <a:off x="9091930" y="3276600"/>
            <a:ext cx="2128279"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role zawodnika i jego przynależność procentowa do grup</a:t>
            </a:r>
            <a:endParaRPr lang="en-US" sz="1250" dirty="0"/>
          </a:p>
        </p:txBody>
      </p:sp>
      <p:sp>
        <p:nvSpPr>
          <p:cNvPr id="17" name="Shape 15"/>
          <p:cNvSpPr/>
          <p:nvPr/>
        </p:nvSpPr>
        <p:spPr>
          <a:xfrm>
            <a:off x="812800" y="4442147"/>
            <a:ext cx="10566400" cy="1389380"/>
          </a:xfrm>
          <a:prstGeom prst="roundRect">
            <a:avLst>
              <a:gd name="adj" fmla="val 7313"/>
            </a:avLst>
          </a:prstGeom>
          <a:solidFill>
            <a:srgbClr val="1C2B3A"/>
          </a:solidFill>
          <a:ln/>
        </p:spPr>
      </p:sp>
      <p:sp>
        <p:nvSpPr>
          <p:cNvPr id="18" name="Text 16"/>
          <p:cNvSpPr/>
          <p:nvPr/>
        </p:nvSpPr>
        <p:spPr>
          <a:xfrm>
            <a:off x="1066800" y="4696147"/>
            <a:ext cx="1036015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9F5"/>
                </a:solidFill>
                <a:latin typeface="Arial" pitchFamily="34" charset="0"/>
                <a:ea typeface="Arial" pitchFamily="34" charset="-122"/>
                <a:cs typeface="Arial" pitchFamily="34" charset="-120"/>
              </a:rPr>
              <a:t>Uczciwe traktowanie braków</a:t>
            </a:r>
            <a:endParaRPr lang="en-US" sz="1700" dirty="0"/>
          </a:p>
        </p:txBody>
      </p:sp>
      <p:sp>
        <p:nvSpPr>
          <p:cNvPr id="19" name="Text 17"/>
          <p:cNvSpPr/>
          <p:nvPr/>
        </p:nvSpPr>
        <p:spPr>
          <a:xfrm>
            <a:off x="1066800" y="5044120"/>
            <a:ext cx="1036015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6C2CF"/>
                </a:solidFill>
                <a:latin typeface="Arial" pitchFamily="34" charset="0"/>
                <a:ea typeface="Arial" pitchFamily="34" charset="-122"/>
                <a:cs typeface="Arial" pitchFamily="34" charset="-120"/>
              </a:rPr>
              <a:t>Jeśli zawodnik nie rozegrał meczu na wybranej nawierzchni, aplikacja pokazuje </a:t>
            </a:r>
            <a:r>
              <a:rPr lang="en-US" sz="1400" b="1" dirty="0">
                <a:solidFill>
                  <a:srgbClr val="FAF9F5"/>
                </a:solidFill>
                <a:latin typeface="Arial" pitchFamily="34" charset="0"/>
                <a:ea typeface="Arial" pitchFamily="34" charset="-122"/>
                <a:cs typeface="Arial" pitchFamily="34" charset="-120"/>
              </a:rPr>
              <a:t>„brak danych”</a:t>
            </a:r>
            <a:r>
              <a:rPr lang="en-US" sz="1400" dirty="0">
                <a:solidFill>
                  <a:srgbClr val="B6C2CF"/>
                </a:solidFill>
                <a:latin typeface="Arial" pitchFamily="34" charset="0"/>
                <a:ea typeface="Arial" pitchFamily="34" charset="-122"/>
                <a:cs typeface="Arial" pitchFamily="34" charset="-120"/>
              </a:rPr>
              <a:t>, a nie wartość startową 1500. Przy mniej niż pięciu meczach wyświetla ostrzeżenie, że prognoza jest niepewna.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2B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9352"/>
          </a:xfrm>
          <a:prstGeom prst="rect">
            <a:avLst/>
          </a:prstGeom>
          <a:noFill/>
          <a:ln/>
        </p:spPr>
        <p:txBody>
          <a:bodyPr wrap="square" lIns="0" tIns="0" rIns="0" bIns="0" rtlCol="0" anchor="t">
            <a:normAutofit/>
          </a:bodyPr>
          <a:lstStyle/>
          <a:p>
            <a:pPr algn="l" indent="0" marL="0">
              <a:lnSpc>
                <a:spcPts val="3971"/>
              </a:lnSpc>
              <a:buNone/>
            </a:pPr>
            <a:r>
              <a:rPr lang="en-US" sz="3610" b="0" i="0" dirty="0">
                <a:solidFill>
                  <a:srgbClr val="FAF9F5"/>
                </a:solidFill>
                <a:latin typeface="EB Garamond" pitchFamily="18" charset="0"/>
                <a:ea typeface="EB Garamond" pitchFamily="18" charset="-122"/>
                <a:cs typeface="EB Garamond" pitchFamily="18" charset="-120"/>
              </a:rPr>
              <a:t>Wnioski i ograniczenia</a:t>
            </a:r>
            <a:endParaRPr lang="en-US" sz="3610" dirty="0"/>
          </a:p>
        </p:txBody>
      </p:sp>
      <p:sp>
        <p:nvSpPr>
          <p:cNvPr id="3" name="Text 1"/>
          <p:cNvSpPr/>
          <p:nvPr/>
        </p:nvSpPr>
        <p:spPr>
          <a:xfrm>
            <a:off x="812800" y="1570757"/>
            <a:ext cx="5284724" cy="285036"/>
          </a:xfrm>
          <a:prstGeom prst="rect">
            <a:avLst/>
          </a:prstGeom>
          <a:noFill/>
          <a:ln/>
        </p:spPr>
        <p:txBody>
          <a:bodyPr wrap="square" lIns="0" tIns="0" rIns="0" bIns="0" rtlCol="0" anchor="t">
            <a:normAutofit/>
          </a:bodyPr>
          <a:lstStyle/>
          <a:p>
            <a:pPr algn="l" indent="0" marL="0">
              <a:lnSpc>
                <a:spcPts val="2072"/>
              </a:lnSpc>
              <a:buNone/>
            </a:pPr>
            <a:r>
              <a:rPr lang="en-US" sz="1727" b="1" dirty="0">
                <a:solidFill>
                  <a:srgbClr val="C98A64"/>
                </a:solidFill>
                <a:latin typeface="Arial" pitchFamily="34" charset="0"/>
                <a:ea typeface="Arial" pitchFamily="34" charset="-122"/>
                <a:cs typeface="Arial" pitchFamily="34" charset="-120"/>
              </a:rPr>
              <a:t>Co udało się pokazać</a:t>
            </a:r>
            <a:endParaRPr lang="en-US" sz="1727" dirty="0"/>
          </a:p>
        </p:txBody>
      </p:sp>
      <p:sp>
        <p:nvSpPr>
          <p:cNvPr id="4" name="Text 2"/>
          <p:cNvSpPr/>
          <p:nvPr/>
        </p:nvSpPr>
        <p:spPr>
          <a:xfrm>
            <a:off x="910649" y="1982788"/>
            <a:ext cx="5179255" cy="2381329"/>
          </a:xfrm>
          <a:prstGeom prst="rect">
            <a:avLst/>
          </a:prstGeom>
          <a:noFill/>
          <a:ln/>
        </p:spPr>
        <p:txBody>
          <a:bodyPr wrap="square" lIns="0" tIns="0" rIns="0" bIns="0" rtlCol="0" anchor="t">
            <a:normAutofit/>
          </a:bodyPr>
          <a:lstStyle/>
          <a:p>
            <a:pPr algn="l" marL="156151" indent="-156151">
              <a:lnSpc>
                <a:spcPts val="2320"/>
              </a:lnSpc>
              <a:buSzPct val="100000"/>
              <a:buChar char="•"/>
            </a:pPr>
            <a:r>
              <a:rPr lang="en-US" sz="1326" dirty="0">
                <a:solidFill>
                  <a:srgbClr val="B6C2CF"/>
                </a:solidFill>
                <a:latin typeface="Arial" pitchFamily="34" charset="0"/>
                <a:ea typeface="Arial" pitchFamily="34" charset="-122"/>
                <a:cs typeface="Arial" pitchFamily="34" charset="-120"/>
              </a:rPr>
              <a:t>Elo przewiduje zwycięzcę nieco lepiej niż ranking ATP i znacznie szybciej wychwytuje zmianę formy</a:t>
            </a:r>
            <a:endParaRPr lang="en-US" sz="1326" dirty="0"/>
          </a:p>
          <a:p>
            <a:pPr algn="l" marL="156151" indent="-156151">
              <a:lnSpc>
                <a:spcPts val="2320"/>
              </a:lnSpc>
              <a:buSzPct val="100000"/>
              <a:buChar char="•"/>
            </a:pPr>
            <a:r>
              <a:rPr lang="en-US" sz="1326" dirty="0">
                <a:solidFill>
                  <a:srgbClr val="B6C2CF"/>
                </a:solidFill>
                <a:latin typeface="Arial" pitchFamily="34" charset="0"/>
                <a:ea typeface="Arial" pitchFamily="34" charset="-122"/>
                <a:cs typeface="Arial" pitchFamily="34" charset="-120"/>
              </a:rPr>
              <a:t>Nawierzchnia silnie wpływa na liczbę asów, bo trawa daje ich niemal dwa razy więcej niż mączka</a:t>
            </a:r>
            <a:endParaRPr lang="en-US" sz="1326" dirty="0"/>
          </a:p>
          <a:p>
            <a:pPr algn="l" marL="156151" indent="-156151">
              <a:lnSpc>
                <a:spcPts val="2320"/>
              </a:lnSpc>
              <a:buSzPct val="100000"/>
              <a:buChar char="•"/>
            </a:pPr>
            <a:r>
              <a:rPr lang="en-US" sz="1326" dirty="0">
                <a:solidFill>
                  <a:srgbClr val="B6C2CF"/>
                </a:solidFill>
                <a:latin typeface="Arial" pitchFamily="34" charset="0"/>
                <a:ea typeface="Arial" pitchFamily="34" charset="-122"/>
                <a:cs typeface="Arial" pitchFamily="34" charset="-120"/>
              </a:rPr>
              <a:t>Algorytm bez podpowiedzi wyodrębnia style gry zgodne z intuicją kibica</a:t>
            </a:r>
            <a:endParaRPr lang="en-US" sz="1326" dirty="0"/>
          </a:p>
          <a:p>
            <a:pPr algn="l" marL="156151" indent="-156151">
              <a:lnSpc>
                <a:spcPts val="2320"/>
              </a:lnSpc>
              <a:buSzPct val="100000"/>
              <a:buChar char="•"/>
            </a:pPr>
            <a:r>
              <a:rPr lang="en-US" sz="1326" dirty="0">
                <a:solidFill>
                  <a:srgbClr val="B6C2CF"/>
                </a:solidFill>
                <a:latin typeface="Arial" pitchFamily="34" charset="0"/>
                <a:ea typeface="Arial" pitchFamily="34" charset="-122"/>
                <a:cs typeface="Arial" pitchFamily="34" charset="-120"/>
              </a:rPr>
              <a:t>Dodatkowe cechy nie poprawiły modelu, ponieważ Elo zawierało już tę informację</a:t>
            </a:r>
            <a:endParaRPr lang="en-US" sz="1326" dirty="0"/>
          </a:p>
        </p:txBody>
      </p:sp>
      <p:sp>
        <p:nvSpPr>
          <p:cNvPr id="5" name="Text 3"/>
          <p:cNvSpPr/>
          <p:nvPr/>
        </p:nvSpPr>
        <p:spPr>
          <a:xfrm>
            <a:off x="6248400" y="1570757"/>
            <a:ext cx="5284724" cy="285036"/>
          </a:xfrm>
          <a:prstGeom prst="rect">
            <a:avLst/>
          </a:prstGeom>
          <a:noFill/>
          <a:ln/>
        </p:spPr>
        <p:txBody>
          <a:bodyPr wrap="square" lIns="0" tIns="0" rIns="0" bIns="0" rtlCol="0" anchor="t">
            <a:normAutofit/>
          </a:bodyPr>
          <a:lstStyle/>
          <a:p>
            <a:pPr algn="l" indent="0" marL="0">
              <a:lnSpc>
                <a:spcPts val="2072"/>
              </a:lnSpc>
              <a:buNone/>
            </a:pPr>
            <a:r>
              <a:rPr lang="en-US" sz="1727" b="1" dirty="0">
                <a:solidFill>
                  <a:srgbClr val="C98A64"/>
                </a:solidFill>
                <a:latin typeface="Arial" pitchFamily="34" charset="0"/>
                <a:ea typeface="Arial" pitchFamily="34" charset="-122"/>
                <a:cs typeface="Arial" pitchFamily="34" charset="-120"/>
              </a:rPr>
              <a:t>Czego model nie potrafi</a:t>
            </a:r>
            <a:endParaRPr lang="en-US" sz="1727" dirty="0"/>
          </a:p>
        </p:txBody>
      </p:sp>
      <p:sp>
        <p:nvSpPr>
          <p:cNvPr id="6" name="Text 4"/>
          <p:cNvSpPr/>
          <p:nvPr/>
        </p:nvSpPr>
        <p:spPr>
          <a:xfrm>
            <a:off x="6346115" y="1982788"/>
            <a:ext cx="5179389" cy="2381329"/>
          </a:xfrm>
          <a:prstGeom prst="rect">
            <a:avLst/>
          </a:prstGeom>
          <a:noFill/>
          <a:ln/>
        </p:spPr>
        <p:txBody>
          <a:bodyPr wrap="square" lIns="0" tIns="0" rIns="0" bIns="0" rtlCol="0" anchor="t">
            <a:normAutofit/>
          </a:bodyPr>
          <a:lstStyle/>
          <a:p>
            <a:pPr algn="l" marL="156285" indent="-156285">
              <a:lnSpc>
                <a:spcPts val="2350"/>
              </a:lnSpc>
              <a:buSzPct val="100000"/>
              <a:buChar char="•"/>
            </a:pPr>
            <a:r>
              <a:rPr lang="en-US" sz="1343" dirty="0">
                <a:solidFill>
                  <a:srgbClr val="B6C2CF"/>
                </a:solidFill>
                <a:latin typeface="Arial" pitchFamily="34" charset="0"/>
                <a:ea typeface="Arial" pitchFamily="34" charset="-122"/>
                <a:cs typeface="Arial" pitchFamily="34" charset="-120"/>
              </a:rPr>
              <a:t>W danych nie ma kierunku ani rodzaju serwisu, ustawienia returnera, podziału na halę i kort otwarty</a:t>
            </a:r>
            <a:endParaRPr lang="en-US" sz="1343" dirty="0"/>
          </a:p>
          <a:p>
            <a:pPr algn="l" marL="156285" indent="-156285">
              <a:lnSpc>
                <a:spcPts val="2350"/>
              </a:lnSpc>
              <a:buSzPct val="100000"/>
              <a:buChar char="•"/>
            </a:pPr>
            <a:r>
              <a:rPr lang="en-US" sz="1343" dirty="0">
                <a:solidFill>
                  <a:srgbClr val="B6C2CF"/>
                </a:solidFill>
                <a:latin typeface="Arial" pitchFamily="34" charset="0"/>
                <a:ea typeface="Arial" pitchFamily="34" charset="-122"/>
                <a:cs typeface="Arial" pitchFamily="34" charset="-120"/>
              </a:rPr>
              <a:t>Bilans bezpośrednich meczów nie wchodzi do modelu, bo większość par zagrała ze sobą od zera do trzech razy</a:t>
            </a:r>
            <a:endParaRPr lang="en-US" sz="1343" dirty="0"/>
          </a:p>
          <a:p>
            <a:pPr algn="l" marL="156285" indent="-156285">
              <a:lnSpc>
                <a:spcPts val="2350"/>
              </a:lnSpc>
              <a:buSzPct val="100000"/>
              <a:buChar char="•"/>
            </a:pPr>
            <a:r>
              <a:rPr lang="en-US" sz="1343" dirty="0">
                <a:solidFill>
                  <a:srgbClr val="B6C2CF"/>
                </a:solidFill>
                <a:latin typeface="Arial" pitchFamily="34" charset="0"/>
                <a:ea typeface="Arial" pitchFamily="34" charset="-122"/>
                <a:cs typeface="Arial" pitchFamily="34" charset="-120"/>
              </a:rPr>
              <a:t>Styl gry to interpretacja podobieństwa statystyk, nie pomiar zachowania na korcie</a:t>
            </a:r>
            <a:endParaRPr lang="en-US" sz="1343" dirty="0"/>
          </a:p>
          <a:p>
            <a:pPr algn="l" marL="156285" indent="-156285">
              <a:lnSpc>
                <a:spcPts val="2350"/>
              </a:lnSpc>
              <a:buSzPct val="100000"/>
              <a:buChar char="•"/>
            </a:pPr>
            <a:r>
              <a:rPr lang="en-US" sz="1343" dirty="0">
                <a:solidFill>
                  <a:srgbClr val="B6C2CF"/>
                </a:solidFill>
                <a:latin typeface="Arial" pitchFamily="34" charset="0"/>
                <a:ea typeface="Arial" pitchFamily="34" charset="-122"/>
                <a:cs typeface="Arial" pitchFamily="34" charset="-120"/>
              </a:rPr>
              <a:t>Prognoza nie uwzględnia formy dziennej, zmęczenia ani kontuzji</a:t>
            </a:r>
            <a:endParaRPr lang="en-US" sz="1343" dirty="0"/>
          </a:p>
        </p:txBody>
      </p:sp>
      <p:sp>
        <p:nvSpPr>
          <p:cNvPr id="7" name="Shape 5"/>
          <p:cNvSpPr/>
          <p:nvPr/>
        </p:nvSpPr>
        <p:spPr>
          <a:xfrm>
            <a:off x="812800" y="4592724"/>
            <a:ext cx="10566400" cy="1249283"/>
          </a:xfrm>
          <a:prstGeom prst="roundRect">
            <a:avLst>
              <a:gd name="adj" fmla="val 8133"/>
            </a:avLst>
          </a:prstGeom>
          <a:solidFill>
            <a:srgbClr val="263A4E"/>
          </a:solidFill>
          <a:ln/>
        </p:spPr>
      </p:sp>
      <p:sp>
        <p:nvSpPr>
          <p:cNvPr id="8" name="Text 6"/>
          <p:cNvSpPr/>
          <p:nvPr/>
        </p:nvSpPr>
        <p:spPr>
          <a:xfrm>
            <a:off x="1041400" y="4821324"/>
            <a:ext cx="10412476" cy="255667"/>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FAF9F5"/>
                </a:solidFill>
                <a:latin typeface="Arial" pitchFamily="34" charset="0"/>
                <a:ea typeface="Arial" pitchFamily="34" charset="-122"/>
                <a:cs typeface="Arial" pitchFamily="34" charset="-120"/>
              </a:rPr>
              <a:t>Kierunki rozwoju</a:t>
            </a:r>
            <a:endParaRPr lang="en-US" sz="1520" dirty="0"/>
          </a:p>
        </p:txBody>
      </p:sp>
      <p:sp>
        <p:nvSpPr>
          <p:cNvPr id="9" name="Text 7"/>
          <p:cNvSpPr/>
          <p:nvPr/>
        </p:nvSpPr>
        <p:spPr>
          <a:xfrm>
            <a:off x="1041400" y="5127786"/>
            <a:ext cx="10412476" cy="511016"/>
          </a:xfrm>
          <a:prstGeom prst="rect">
            <a:avLst/>
          </a:prstGeom>
          <a:noFill/>
          <a:ln/>
        </p:spPr>
        <p:txBody>
          <a:bodyPr wrap="square" lIns="0" tIns="0" rIns="0" bIns="0" rtlCol="0" anchor="t">
            <a:normAutofit/>
          </a:bodyPr>
          <a:lstStyle/>
          <a:p>
            <a:pPr algn="l" indent="0" marL="0">
              <a:lnSpc>
                <a:spcPts val="1911"/>
              </a:lnSpc>
              <a:buNone/>
            </a:pPr>
            <a:r>
              <a:rPr lang="en-US" sz="1274" dirty="0">
                <a:solidFill>
                  <a:srgbClr val="B6C2CF"/>
                </a:solidFill>
                <a:latin typeface="Arial" pitchFamily="34" charset="0"/>
                <a:ea typeface="Arial" pitchFamily="34" charset="-122"/>
                <a:cs typeface="Arial" pitchFamily="34" charset="-120"/>
              </a:rPr>
              <a:t>Połączenie z danymi tennis-data.co.uk pozwoliłoby uwzględnić podział hala / kort otwarty oraz porównać skuteczność modelu z kursami bukmacherskimi na kilku tysiącach meczów historycznych.</a:t>
            </a:r>
            <a:endParaRPr lang="en-US" sz="1274" dirty="0"/>
          </a:p>
        </p:txBody>
      </p:sp>
      <p:sp>
        <p:nvSpPr>
          <p:cNvPr id="10" name="Text 8"/>
          <p:cNvSpPr/>
          <p:nvPr/>
        </p:nvSpPr>
        <p:spPr>
          <a:xfrm>
            <a:off x="812800" y="6238242"/>
            <a:ext cx="54281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Dane: Jeff Sackmann, zbiór tennis_atp · licencja CC BY-NC-SA 4.0</a:t>
            </a:r>
            <a:endParaRPr lang="en-US" sz="1200" dirty="0"/>
          </a:p>
        </p:txBody>
      </p:sp>
    </p:spTree>
  </p:cSld>
  <p:clrMapOvr>
    <a:masterClrMapping/>
  </p:clrMapOvr>
</p:sld>
</file>

<file path=ppt/theme/theme1.xml><?xml version="1.0" encoding="utf-8"?>
<a:theme xmlns:a="http://schemas.openxmlformats.org/drawingml/2006/main" name="Analiza meczów tenisa ATP">
  <a:themeElements>
    <a:clrScheme name="Analiza meczów tenisa ATP">
      <a:dk1>
        <a:srgbClr val="1C2B3A"/>
      </a:dk1>
      <a:lt1>
        <a:srgbClr val="FAF9F5"/>
      </a:lt1>
      <a:dk2>
        <a:srgbClr val="545F69"/>
      </a:dk2>
      <a:lt2>
        <a:srgbClr val="E4E4E2"/>
      </a:lt2>
      <a:accent1>
        <a:srgbClr val="9C4221"/>
      </a:accent1>
      <a:accent2>
        <a:srgbClr val="C98A64"/>
      </a:accent2>
      <a:accent3>
        <a:srgbClr val="4A5568"/>
      </a:accent3>
      <a:accent4>
        <a:srgbClr val="B6C2CF"/>
      </a:accent4>
      <a:accent5>
        <a:srgbClr val="7A8899"/>
      </a:accent5>
      <a:accent6>
        <a:srgbClr val="8A9AAB"/>
      </a:accent6>
      <a:hlink>
        <a:srgbClr val="0563C1"/>
      </a:hlink>
      <a:folHlink>
        <a:srgbClr val="954F72"/>
      </a:folHlink>
    </a:clrScheme>
    <a:fontScheme name="Analiza meczów tenisa AT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Analiza meczów tenisa ATP</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2026-10-28T13:32:16Z</dcterms:created>
  <dcterms:modified xsi:type="dcterms:W3CDTF">2026-10-28T13:32:16Z</dcterms:modified>
</cp:coreProperties>
</file>